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1089600" cy="21945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97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118617-A293-45F7-8A61-85644012BE41}" v="19" dt="2026-03-20T14:32:34.0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7" autoAdjust="0"/>
    <p:restoredTop sz="94660"/>
  </p:normalViewPr>
  <p:slideViewPr>
    <p:cSldViewPr snapToGrid="0">
      <p:cViewPr>
        <p:scale>
          <a:sx n="66" d="100"/>
          <a:sy n="66" d="100"/>
        </p:scale>
        <p:origin x="-7815" y="-5568"/>
      </p:cViewPr>
      <p:guideLst>
        <p:guide orient="horz" pos="6912"/>
        <p:guide pos="97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an Nunes" userId="6fbd9757a9383e84" providerId="LiveId" clId="{5B06B2C3-E6CA-481F-AFBC-87E6D9EED856}"/>
    <pc:docChg chg="custSel modSld">
      <pc:chgData name="Athan Nunes" userId="6fbd9757a9383e84" providerId="LiveId" clId="{5B06B2C3-E6CA-481F-AFBC-87E6D9EED856}" dt="2026-03-20T14:37:09.475" v="728" actId="20577"/>
      <pc:docMkLst>
        <pc:docMk/>
      </pc:docMkLst>
      <pc:sldChg chg="addSp delSp modSp mod">
        <pc:chgData name="Athan Nunes" userId="6fbd9757a9383e84" providerId="LiveId" clId="{5B06B2C3-E6CA-481F-AFBC-87E6D9EED856}" dt="2026-03-20T14:37:09.475" v="728" actId="20577"/>
        <pc:sldMkLst>
          <pc:docMk/>
          <pc:sldMk cId="1161274927" sldId="256"/>
        </pc:sldMkLst>
        <pc:spChg chg="mod">
          <ac:chgData name="Athan Nunes" userId="6fbd9757a9383e84" providerId="LiveId" clId="{5B06B2C3-E6CA-481F-AFBC-87E6D9EED856}" dt="2026-03-20T14:15:12.853" v="307" actId="1076"/>
          <ac:spMkLst>
            <pc:docMk/>
            <pc:sldMk cId="1161274927" sldId="256"/>
            <ac:spMk id="13" creationId="{CD8E9A33-F325-4631-AF3A-7C7D10C0837D}"/>
          </ac:spMkLst>
        </pc:spChg>
        <pc:spChg chg="mod">
          <ac:chgData name="Athan Nunes" userId="6fbd9757a9383e84" providerId="LiveId" clId="{5B06B2C3-E6CA-481F-AFBC-87E6D9EED856}" dt="2026-03-20T14:33:14.529" v="587" actId="14100"/>
          <ac:spMkLst>
            <pc:docMk/>
            <pc:sldMk cId="1161274927" sldId="256"/>
            <ac:spMk id="14" creationId="{94051FE6-2706-E500-7FA6-39EF1CF14146}"/>
          </ac:spMkLst>
        </pc:spChg>
        <pc:spChg chg="add mod">
          <ac:chgData name="Athan Nunes" userId="6fbd9757a9383e84" providerId="LiveId" clId="{5B06B2C3-E6CA-481F-AFBC-87E6D9EED856}" dt="2026-03-20T14:11:10.654" v="218" actId="403"/>
          <ac:spMkLst>
            <pc:docMk/>
            <pc:sldMk cId="1161274927" sldId="256"/>
            <ac:spMk id="24" creationId="{A5F39A34-5EE0-0E7D-2891-10F7240E26BA}"/>
          </ac:spMkLst>
        </pc:spChg>
        <pc:spChg chg="add mod">
          <ac:chgData name="Athan Nunes" userId="6fbd9757a9383e84" providerId="LiveId" clId="{5B06B2C3-E6CA-481F-AFBC-87E6D9EED856}" dt="2026-03-20T14:18:13.713" v="318" actId="113"/>
          <ac:spMkLst>
            <pc:docMk/>
            <pc:sldMk cId="1161274927" sldId="256"/>
            <ac:spMk id="26" creationId="{20B628A5-13D1-2E9C-41D1-474875D3B41E}"/>
          </ac:spMkLst>
        </pc:spChg>
        <pc:spChg chg="add mod">
          <ac:chgData name="Athan Nunes" userId="6fbd9757a9383e84" providerId="LiveId" clId="{5B06B2C3-E6CA-481F-AFBC-87E6D9EED856}" dt="2026-03-20T14:25:05.967" v="449" actId="2711"/>
          <ac:spMkLst>
            <pc:docMk/>
            <pc:sldMk cId="1161274927" sldId="256"/>
            <ac:spMk id="28" creationId="{D73CB2DA-E398-2CE7-B6BB-450B326D79E4}"/>
          </ac:spMkLst>
        </pc:spChg>
        <pc:spChg chg="add mod">
          <ac:chgData name="Athan Nunes" userId="6fbd9757a9383e84" providerId="LiveId" clId="{5B06B2C3-E6CA-481F-AFBC-87E6D9EED856}" dt="2026-03-20T14:34:20.048" v="597" actId="1076"/>
          <ac:spMkLst>
            <pc:docMk/>
            <pc:sldMk cId="1161274927" sldId="256"/>
            <ac:spMk id="30" creationId="{2A9D6A59-B5ED-707B-9714-0A40676DCE6D}"/>
          </ac:spMkLst>
        </pc:spChg>
        <pc:graphicFrameChg chg="del">
          <ac:chgData name="Athan Nunes" userId="6fbd9757a9383e84" providerId="LiveId" clId="{5B06B2C3-E6CA-481F-AFBC-87E6D9EED856}" dt="2026-03-20T13:56:32.817" v="0" actId="478"/>
          <ac:graphicFrameMkLst>
            <pc:docMk/>
            <pc:sldMk cId="1161274927" sldId="256"/>
            <ac:graphicFrameMk id="21" creationId="{301CD8A2-6B36-57C5-F07B-6E1B63E6E797}"/>
          </ac:graphicFrameMkLst>
        </pc:graphicFrameChg>
        <pc:graphicFrameChg chg="add mod modGraphic">
          <ac:chgData name="Athan Nunes" userId="6fbd9757a9383e84" providerId="LiveId" clId="{5B06B2C3-E6CA-481F-AFBC-87E6D9EED856}" dt="2026-03-20T14:05:18.283" v="193" actId="14100"/>
          <ac:graphicFrameMkLst>
            <pc:docMk/>
            <pc:sldMk cId="1161274927" sldId="256"/>
            <ac:graphicFrameMk id="23" creationId="{58826E76-B1E9-E064-1679-0977FB19CF82}"/>
          </ac:graphicFrameMkLst>
        </pc:graphicFrameChg>
        <pc:graphicFrameChg chg="add mod modGraphic">
          <ac:chgData name="Athan Nunes" userId="6fbd9757a9383e84" providerId="LiveId" clId="{5B06B2C3-E6CA-481F-AFBC-87E6D9EED856}" dt="2026-03-20T14:13:48.514" v="301" actId="20577"/>
          <ac:graphicFrameMkLst>
            <pc:docMk/>
            <pc:sldMk cId="1161274927" sldId="256"/>
            <ac:graphicFrameMk id="25" creationId="{E9D27015-17D4-DF10-9E48-2775BE8462BA}"/>
          </ac:graphicFrameMkLst>
        </pc:graphicFrameChg>
        <pc:graphicFrameChg chg="add mod modGraphic">
          <ac:chgData name="Athan Nunes" userId="6fbd9757a9383e84" providerId="LiveId" clId="{5B06B2C3-E6CA-481F-AFBC-87E6D9EED856}" dt="2026-03-20T14:20:51.564" v="436" actId="20577"/>
          <ac:graphicFrameMkLst>
            <pc:docMk/>
            <pc:sldMk cId="1161274927" sldId="256"/>
            <ac:graphicFrameMk id="27" creationId="{9B396EC7-E56B-C431-11C7-9BA61BF1A34C}"/>
          </ac:graphicFrameMkLst>
        </pc:graphicFrameChg>
        <pc:graphicFrameChg chg="add mod modGraphic">
          <ac:chgData name="Athan Nunes" userId="6fbd9757a9383e84" providerId="LiveId" clId="{5B06B2C3-E6CA-481F-AFBC-87E6D9EED856}" dt="2026-03-20T14:28:11.468" v="574" actId="20577"/>
          <ac:graphicFrameMkLst>
            <pc:docMk/>
            <pc:sldMk cId="1161274927" sldId="256"/>
            <ac:graphicFrameMk id="29" creationId="{F28641A0-9C38-2F6C-64F3-B851FC93CEE9}"/>
          </ac:graphicFrameMkLst>
        </pc:graphicFrameChg>
        <pc:graphicFrameChg chg="add del">
          <ac:chgData name="Athan Nunes" userId="6fbd9757a9383e84" providerId="LiveId" clId="{5B06B2C3-E6CA-481F-AFBC-87E6D9EED856}" dt="2026-03-20T14:34:41.943" v="599" actId="478"/>
          <ac:graphicFrameMkLst>
            <pc:docMk/>
            <pc:sldMk cId="1161274927" sldId="256"/>
            <ac:graphicFrameMk id="31" creationId="{2D52056A-3BA4-557F-C430-87816FC962C2}"/>
          </ac:graphicFrameMkLst>
        </pc:graphicFrameChg>
        <pc:graphicFrameChg chg="add mod modGraphic">
          <ac:chgData name="Athan Nunes" userId="6fbd9757a9383e84" providerId="LiveId" clId="{5B06B2C3-E6CA-481F-AFBC-87E6D9EED856}" dt="2026-03-20T14:37:09.475" v="728" actId="20577"/>
          <ac:graphicFrameMkLst>
            <pc:docMk/>
            <pc:sldMk cId="1161274927" sldId="256"/>
            <ac:graphicFrameMk id="32" creationId="{420731F9-0829-5C36-1C08-FDE3E15D5145}"/>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1720" y="3591562"/>
            <a:ext cx="26426160" cy="7640320"/>
          </a:xfrm>
        </p:spPr>
        <p:txBody>
          <a:bodyPr anchor="b"/>
          <a:lstStyle>
            <a:lvl1pPr algn="ctr">
              <a:defRPr sz="19200"/>
            </a:lvl1pPr>
          </a:lstStyle>
          <a:p>
            <a:r>
              <a:rPr lang="en-US"/>
              <a:t>Click to edit Master title style</a:t>
            </a:r>
            <a:endParaRPr lang="en-US" dirty="0"/>
          </a:p>
        </p:txBody>
      </p:sp>
      <p:sp>
        <p:nvSpPr>
          <p:cNvPr id="3" name="Subtitle 2"/>
          <p:cNvSpPr>
            <a:spLocks noGrp="1"/>
          </p:cNvSpPr>
          <p:nvPr>
            <p:ph type="subTitle" idx="1"/>
          </p:nvPr>
        </p:nvSpPr>
        <p:spPr>
          <a:xfrm>
            <a:off x="3886200" y="11526522"/>
            <a:ext cx="233172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3752F27-EA32-4C79-B39A-345464AE942D}"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500171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752F27-EA32-4C79-B39A-345464AE942D}"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3331126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21219" y="5471167"/>
            <a:ext cx="26814780" cy="9128758"/>
          </a:xfrm>
        </p:spPr>
        <p:txBody>
          <a:bodyPr anchor="b"/>
          <a:lstStyle>
            <a:lvl1pPr>
              <a:defRPr sz="19200"/>
            </a:lvl1pPr>
          </a:lstStyle>
          <a:p>
            <a:r>
              <a:rPr lang="en-US"/>
              <a:t>Click to edit Master title style</a:t>
            </a:r>
            <a:endParaRPr lang="en-US" dirty="0"/>
          </a:p>
        </p:txBody>
      </p:sp>
      <p:sp>
        <p:nvSpPr>
          <p:cNvPr id="3" name="Text Placeholder 2"/>
          <p:cNvSpPr>
            <a:spLocks noGrp="1"/>
          </p:cNvSpPr>
          <p:nvPr>
            <p:ph type="body" idx="1"/>
          </p:nvPr>
        </p:nvSpPr>
        <p:spPr>
          <a:xfrm>
            <a:off x="2121219" y="14686287"/>
            <a:ext cx="26814780" cy="4800598"/>
          </a:xfrm>
        </p:spPr>
        <p:txBody>
          <a:bodyPr/>
          <a:lstStyle>
            <a:lvl1pPr marL="0" indent="0">
              <a:buNone/>
              <a:defRPr sz="7680">
                <a:solidFill>
                  <a:schemeClr val="tx1">
                    <a:tint val="82000"/>
                  </a:schemeClr>
                </a:solidFill>
              </a:defRPr>
            </a:lvl1pPr>
            <a:lvl2pPr marL="1463040" indent="0">
              <a:buNone/>
              <a:defRPr sz="6400">
                <a:solidFill>
                  <a:schemeClr val="tx1">
                    <a:tint val="82000"/>
                  </a:schemeClr>
                </a:solidFill>
              </a:defRPr>
            </a:lvl2pPr>
            <a:lvl3pPr marL="2926080" indent="0">
              <a:buNone/>
              <a:defRPr sz="5760">
                <a:solidFill>
                  <a:schemeClr val="tx1">
                    <a:tint val="82000"/>
                  </a:schemeClr>
                </a:solidFill>
              </a:defRPr>
            </a:lvl3pPr>
            <a:lvl4pPr marL="4389120" indent="0">
              <a:buNone/>
              <a:defRPr sz="5120">
                <a:solidFill>
                  <a:schemeClr val="tx1">
                    <a:tint val="82000"/>
                  </a:schemeClr>
                </a:solidFill>
              </a:defRPr>
            </a:lvl4pPr>
            <a:lvl5pPr marL="5852160" indent="0">
              <a:buNone/>
              <a:defRPr sz="5120">
                <a:solidFill>
                  <a:schemeClr val="tx1">
                    <a:tint val="82000"/>
                  </a:schemeClr>
                </a:solidFill>
              </a:defRPr>
            </a:lvl5pPr>
            <a:lvl6pPr marL="7315200" indent="0">
              <a:buNone/>
              <a:defRPr sz="5120">
                <a:solidFill>
                  <a:schemeClr val="tx1">
                    <a:tint val="82000"/>
                  </a:schemeClr>
                </a:solidFill>
              </a:defRPr>
            </a:lvl6pPr>
            <a:lvl7pPr marL="8778240" indent="0">
              <a:buNone/>
              <a:defRPr sz="5120">
                <a:solidFill>
                  <a:schemeClr val="tx1">
                    <a:tint val="82000"/>
                  </a:schemeClr>
                </a:solidFill>
              </a:defRPr>
            </a:lvl7pPr>
            <a:lvl8pPr marL="10241280" indent="0">
              <a:buNone/>
              <a:defRPr sz="5120">
                <a:solidFill>
                  <a:schemeClr val="tx1">
                    <a:tint val="82000"/>
                  </a:schemeClr>
                </a:solidFill>
              </a:defRPr>
            </a:lvl8pPr>
            <a:lvl9pPr marL="11704320" indent="0">
              <a:buNone/>
              <a:defRPr sz="51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752F27-EA32-4C79-B39A-345464AE942D}"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1923619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374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7391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752F27-EA32-4C79-B39A-345464AE942D}" type="datetimeFigureOut">
              <a:rPr lang="en-GB" smtClean="0"/>
              <a:t>20/03/2026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1348605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1459" y="1168405"/>
            <a:ext cx="26814780" cy="42418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141463" y="5379722"/>
            <a:ext cx="13152356"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141463" y="8016240"/>
            <a:ext cx="13152356"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739112" y="5379722"/>
            <a:ext cx="13217129"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5739112" y="8016240"/>
            <a:ext cx="13217129"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752F27-EA32-4C79-B39A-345464AE942D}" type="datetimeFigureOut">
              <a:rPr lang="en-GB" smtClean="0"/>
              <a:t>20/03/2026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440203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752F27-EA32-4C79-B39A-345464AE942D}" type="datetimeFigureOut">
              <a:rPr lang="en-GB" smtClean="0"/>
              <a:t>20/03/2026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1448358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752F27-EA32-4C79-B39A-345464AE942D}" type="datetimeFigureOut">
              <a:rPr lang="en-GB" smtClean="0"/>
              <a:t>20/03/2026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2176736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Content Placeholder 2"/>
          <p:cNvSpPr>
            <a:spLocks noGrp="1"/>
          </p:cNvSpPr>
          <p:nvPr>
            <p:ph idx="1"/>
          </p:nvPr>
        </p:nvSpPr>
        <p:spPr>
          <a:xfrm>
            <a:off x="13217129" y="3159765"/>
            <a:ext cx="1573911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E3752F27-EA32-4C79-B39A-345464AE942D}" type="datetimeFigureOut">
              <a:rPr lang="en-GB" smtClean="0"/>
              <a:t>20/03/2026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1985781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217129" y="3159765"/>
            <a:ext cx="1573911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endParaRPr lang="en-US" dirty="0"/>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fld id="{E3752F27-EA32-4C79-B39A-345464AE942D}" type="datetimeFigureOut">
              <a:rPr lang="en-GB" smtClean="0"/>
              <a:t>20/03/2026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2234790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752F27-EA32-4C79-B39A-345464AE942D}"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4071518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248497" y="1168400"/>
            <a:ext cx="6703695" cy="185978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137412" y="1168400"/>
            <a:ext cx="19722465"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752F27-EA32-4C79-B39A-345464AE942D}" type="datetimeFigureOut">
              <a:rPr lang="en-GB" smtClean="0"/>
              <a:t>20/03/2026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9C78716-5C7A-408E-A04B-1E6A9AF2C539}" type="slidenum">
              <a:rPr lang="en-GB" smtClean="0"/>
              <a:t>‹#›</a:t>
            </a:fld>
            <a:endParaRPr lang="en-GB"/>
          </a:p>
        </p:txBody>
      </p:sp>
    </p:spTree>
    <p:extLst>
      <p:ext uri="{BB962C8B-B14F-4D97-AF65-F5344CB8AC3E}">
        <p14:creationId xmlns:p14="http://schemas.microsoft.com/office/powerpoint/2010/main" val="2030337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7410" y="1168405"/>
            <a:ext cx="26814780" cy="42418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37410" y="5842000"/>
            <a:ext cx="2681478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137410" y="20340325"/>
            <a:ext cx="6995160" cy="1168400"/>
          </a:xfrm>
          <a:prstGeom prst="rect">
            <a:avLst/>
          </a:prstGeom>
        </p:spPr>
        <p:txBody>
          <a:bodyPr vert="horz" lIns="91440" tIns="45720" rIns="91440" bIns="45720" rtlCol="0" anchor="ctr"/>
          <a:lstStyle>
            <a:lvl1pPr algn="l">
              <a:defRPr sz="3840">
                <a:solidFill>
                  <a:schemeClr val="tx1">
                    <a:tint val="82000"/>
                  </a:schemeClr>
                </a:solidFill>
              </a:defRPr>
            </a:lvl1pPr>
          </a:lstStyle>
          <a:p>
            <a:fld id="{E3752F27-EA32-4C79-B39A-345464AE942D}" type="datetimeFigureOut">
              <a:rPr lang="en-GB" smtClean="0"/>
              <a:t>20/03/2026</a:t>
            </a:fld>
            <a:endParaRPr lang="en-GB"/>
          </a:p>
        </p:txBody>
      </p:sp>
      <p:sp>
        <p:nvSpPr>
          <p:cNvPr id="5" name="Footer Placeholder 4"/>
          <p:cNvSpPr>
            <a:spLocks noGrp="1"/>
          </p:cNvSpPr>
          <p:nvPr>
            <p:ph type="ftr" sz="quarter" idx="3"/>
          </p:nvPr>
        </p:nvSpPr>
        <p:spPr>
          <a:xfrm>
            <a:off x="10298430" y="20340325"/>
            <a:ext cx="10492740" cy="1168400"/>
          </a:xfrm>
          <a:prstGeom prst="rect">
            <a:avLst/>
          </a:prstGeom>
        </p:spPr>
        <p:txBody>
          <a:bodyPr vert="horz" lIns="91440" tIns="45720" rIns="91440" bIns="45720" rtlCol="0" anchor="ctr"/>
          <a:lstStyle>
            <a:lvl1pPr algn="ctr">
              <a:defRPr sz="384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21957030" y="20340325"/>
            <a:ext cx="6995160" cy="1168400"/>
          </a:xfrm>
          <a:prstGeom prst="rect">
            <a:avLst/>
          </a:prstGeom>
        </p:spPr>
        <p:txBody>
          <a:bodyPr vert="horz" lIns="91440" tIns="45720" rIns="91440" bIns="45720" rtlCol="0" anchor="ctr"/>
          <a:lstStyle>
            <a:lvl1pPr algn="r">
              <a:defRPr sz="3840">
                <a:solidFill>
                  <a:schemeClr val="tx1">
                    <a:tint val="82000"/>
                  </a:schemeClr>
                </a:solidFill>
              </a:defRPr>
            </a:lvl1pPr>
          </a:lstStyle>
          <a:p>
            <a:fld id="{B9C78716-5C7A-408E-A04B-1E6A9AF2C539}" type="slidenum">
              <a:rPr lang="en-GB" smtClean="0"/>
              <a:t>‹#›</a:t>
            </a:fld>
            <a:endParaRPr lang="en-GB"/>
          </a:p>
        </p:txBody>
      </p:sp>
    </p:spTree>
    <p:extLst>
      <p:ext uri="{BB962C8B-B14F-4D97-AF65-F5344CB8AC3E}">
        <p14:creationId xmlns:p14="http://schemas.microsoft.com/office/powerpoint/2010/main" val="2406062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52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BCC496-F308-EB39-2564-7BE565A62301}"/>
              </a:ext>
            </a:extLst>
          </p:cNvPr>
          <p:cNvSpPr/>
          <p:nvPr/>
        </p:nvSpPr>
        <p:spPr>
          <a:xfrm>
            <a:off x="2646947" y="-1"/>
            <a:ext cx="25843832" cy="2294021"/>
          </a:xfrm>
          <a:prstGeom prst="rect">
            <a:avLst/>
          </a:prstGeom>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600" b="1" dirty="0">
              <a:latin typeface="Bell MT" panose="02020503060305020303" pitchFamily="18" charset="0"/>
            </a:endParaRPr>
          </a:p>
          <a:p>
            <a:pPr algn="ctr"/>
            <a:r>
              <a:rPr lang="en-GB" sz="3600" b="1" dirty="0">
                <a:latin typeface="Bell MT" panose="02020503060305020303" pitchFamily="18" charset="0"/>
              </a:rPr>
              <a:t>FORECASTING UK ECONOMIC SERIES: EXPONENTIAL SMOOTHING, ARIMA AND REGRESSION</a:t>
            </a:r>
          </a:p>
          <a:p>
            <a:pPr algn="ctr"/>
            <a:endParaRPr lang="en-GB" sz="3600" b="1" dirty="0">
              <a:latin typeface="Bell MT" panose="02020503060305020303" pitchFamily="18" charset="0"/>
            </a:endParaRPr>
          </a:p>
          <a:p>
            <a:pPr algn="ctr"/>
            <a:r>
              <a:rPr lang="en-GB" sz="3600" b="1" dirty="0">
                <a:latin typeface="Bell MT" panose="02020503060305020303" pitchFamily="18" charset="0"/>
              </a:rPr>
              <a:t>STUDENT ID: 37639331</a:t>
            </a:r>
          </a:p>
          <a:p>
            <a:pPr algn="ctr"/>
            <a:endParaRPr lang="en-GB" sz="3600" b="1" dirty="0">
              <a:latin typeface="Bell MT" panose="02020503060305020303" pitchFamily="18" charset="0"/>
            </a:endParaRPr>
          </a:p>
        </p:txBody>
      </p:sp>
      <p:sp>
        <p:nvSpPr>
          <p:cNvPr id="7" name="Rectangle 6">
            <a:extLst>
              <a:ext uri="{FF2B5EF4-FFF2-40B4-BE49-F238E27FC236}">
                <a16:creationId xmlns:a16="http://schemas.microsoft.com/office/drawing/2014/main" id="{D24EFB5A-4ED6-C4C3-BF72-F8F908C2FBCD}"/>
              </a:ext>
            </a:extLst>
          </p:cNvPr>
          <p:cNvSpPr/>
          <p:nvPr/>
        </p:nvSpPr>
        <p:spPr>
          <a:xfrm>
            <a:off x="433138" y="3064040"/>
            <a:ext cx="8582526" cy="2903621"/>
          </a:xfrm>
          <a:prstGeom prst="rect">
            <a:avLst/>
          </a:prstGeom>
          <a:solidFill>
            <a:schemeClr val="bg1">
              <a:lumMod val="85000"/>
            </a:schemeClr>
          </a:solidFill>
          <a:ln w="5715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D2C5DD42-C0A6-7D98-A06D-65F350F33A84}"/>
              </a:ext>
            </a:extLst>
          </p:cNvPr>
          <p:cNvSpPr/>
          <p:nvPr/>
        </p:nvSpPr>
        <p:spPr>
          <a:xfrm>
            <a:off x="11245515" y="3031957"/>
            <a:ext cx="8582525" cy="2903621"/>
          </a:xfrm>
          <a:prstGeom prst="rect">
            <a:avLst/>
          </a:prstGeom>
          <a:solidFill>
            <a:schemeClr val="bg1">
              <a:lumMod val="85000"/>
            </a:schemeClr>
          </a:solidFill>
          <a:ln w="5715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4EEC69C2-D0CC-D0CE-FC75-5209E60EADC2}"/>
              </a:ext>
            </a:extLst>
          </p:cNvPr>
          <p:cNvSpPr/>
          <p:nvPr/>
        </p:nvSpPr>
        <p:spPr>
          <a:xfrm>
            <a:off x="21993726" y="3031957"/>
            <a:ext cx="8662736" cy="2903621"/>
          </a:xfrm>
          <a:prstGeom prst="rect">
            <a:avLst/>
          </a:prstGeom>
          <a:solidFill>
            <a:schemeClr val="bg1">
              <a:lumMod val="85000"/>
            </a:schemeClr>
          </a:solidFill>
          <a:ln w="5715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3CCDE00C-92FC-A8D2-8407-79790F7E8859}"/>
              </a:ext>
            </a:extLst>
          </p:cNvPr>
          <p:cNvSpPr/>
          <p:nvPr/>
        </p:nvSpPr>
        <p:spPr>
          <a:xfrm>
            <a:off x="433138" y="6737680"/>
            <a:ext cx="7138736" cy="12143879"/>
          </a:xfrm>
          <a:prstGeom prst="rect">
            <a:avLst/>
          </a:prstGeom>
          <a:solidFill>
            <a:schemeClr val="bg1">
              <a:lumMod val="85000"/>
            </a:schemeClr>
          </a:solidFill>
          <a:ln w="5715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25A75EA9-3A45-FD58-D79D-DCD2C8EAD1F2}"/>
              </a:ext>
            </a:extLst>
          </p:cNvPr>
          <p:cNvSpPr/>
          <p:nvPr/>
        </p:nvSpPr>
        <p:spPr>
          <a:xfrm>
            <a:off x="8357937" y="6657473"/>
            <a:ext cx="7186863" cy="12143879"/>
          </a:xfrm>
          <a:prstGeom prst="rect">
            <a:avLst/>
          </a:prstGeom>
          <a:solidFill>
            <a:schemeClr val="bg1">
              <a:lumMod val="85000"/>
            </a:schemeClr>
          </a:solidFill>
          <a:ln w="5715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CD8E9A33-F325-4631-AF3A-7C7D10C0837D}"/>
              </a:ext>
            </a:extLst>
          </p:cNvPr>
          <p:cNvSpPr/>
          <p:nvPr/>
        </p:nvSpPr>
        <p:spPr>
          <a:xfrm>
            <a:off x="16242631" y="6704906"/>
            <a:ext cx="7186863" cy="12224085"/>
          </a:xfrm>
          <a:prstGeom prst="rect">
            <a:avLst/>
          </a:prstGeom>
          <a:solidFill>
            <a:schemeClr val="bg1">
              <a:lumMod val="85000"/>
            </a:schemeClr>
          </a:solidFill>
          <a:ln w="5715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ectangle 13">
            <a:extLst>
              <a:ext uri="{FF2B5EF4-FFF2-40B4-BE49-F238E27FC236}">
                <a16:creationId xmlns:a16="http://schemas.microsoft.com/office/drawing/2014/main" id="{94051FE6-2706-E500-7FA6-39EF1CF14146}"/>
              </a:ext>
            </a:extLst>
          </p:cNvPr>
          <p:cNvSpPr/>
          <p:nvPr/>
        </p:nvSpPr>
        <p:spPr>
          <a:xfrm>
            <a:off x="3057525" y="19088145"/>
            <a:ext cx="24517351" cy="2690815"/>
          </a:xfrm>
          <a:prstGeom prst="rect">
            <a:avLst/>
          </a:prstGeom>
          <a:solidFill>
            <a:schemeClr val="bg1">
              <a:lumMod val="85000"/>
            </a:schemeClr>
          </a:solidFill>
          <a:ln w="5715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84F1A17C-FC2A-B21B-CAAF-EA0D1816F8C0}"/>
              </a:ext>
            </a:extLst>
          </p:cNvPr>
          <p:cNvSpPr/>
          <p:nvPr/>
        </p:nvSpPr>
        <p:spPr>
          <a:xfrm>
            <a:off x="24127326" y="6657474"/>
            <a:ext cx="6529136" cy="12143878"/>
          </a:xfrm>
          <a:prstGeom prst="rect">
            <a:avLst/>
          </a:prstGeom>
          <a:solidFill>
            <a:schemeClr val="bg1">
              <a:lumMod val="85000"/>
            </a:schemeClr>
          </a:solidFill>
          <a:ln w="5715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76026B8A-B190-D1B1-8E03-E40D38AB27D1}"/>
              </a:ext>
            </a:extLst>
          </p:cNvPr>
          <p:cNvSpPr txBox="1"/>
          <p:nvPr/>
        </p:nvSpPr>
        <p:spPr>
          <a:xfrm>
            <a:off x="597761" y="3015916"/>
            <a:ext cx="8253280" cy="3354765"/>
          </a:xfrm>
          <a:prstGeom prst="rect">
            <a:avLst/>
          </a:prstGeom>
          <a:noFill/>
        </p:spPr>
        <p:txBody>
          <a:bodyPr wrap="square" rtlCol="0">
            <a:spAutoFit/>
          </a:bodyPr>
          <a:lstStyle/>
          <a:p>
            <a:r>
              <a:rPr lang="en-GB" sz="2400" b="1" dirty="0">
                <a:latin typeface="Bell MT" panose="02020503060305020303" pitchFamily="18" charset="0"/>
              </a:rPr>
              <a:t>AIM</a:t>
            </a:r>
          </a:p>
          <a:p>
            <a:r>
              <a:rPr lang="en-US" sz="2400" b="1" dirty="0">
                <a:latin typeface="Bell MT" panose="02020503060305020303" pitchFamily="18" charset="0"/>
              </a:rPr>
              <a:t>This poster presents a forecasting study of four monthly UK economic time series for GORS. Exponential smoothing was used for all four series, while GB7S was </a:t>
            </a:r>
            <a:r>
              <a:rPr lang="en-US" sz="2400" b="1" dirty="0" err="1">
                <a:latin typeface="Bell MT" panose="02020503060305020303" pitchFamily="18" charset="0"/>
              </a:rPr>
              <a:t>analysed</a:t>
            </a:r>
            <a:r>
              <a:rPr lang="en-US" sz="2400" b="1" dirty="0">
                <a:latin typeface="Bell MT" panose="02020503060305020303" pitchFamily="18" charset="0"/>
              </a:rPr>
              <a:t> in more detail using ARIMA, multiple regression, and a further exploration method. The aim was to compare how the models performed and decide which approach gave the most reliable forecasts up to December 2026.</a:t>
            </a:r>
            <a:endParaRPr lang="en-GB" sz="2400" b="1" dirty="0">
              <a:latin typeface="Bell MT" panose="02020503060305020303" pitchFamily="18" charset="0"/>
            </a:endParaRPr>
          </a:p>
          <a:p>
            <a:endParaRPr lang="en-GB" sz="2000" b="1" dirty="0">
              <a:latin typeface="Bell MT" panose="02020503060305020303" pitchFamily="18" charset="0"/>
            </a:endParaRPr>
          </a:p>
        </p:txBody>
      </p:sp>
      <p:sp>
        <p:nvSpPr>
          <p:cNvPr id="17" name="TextBox 16">
            <a:extLst>
              <a:ext uri="{FF2B5EF4-FFF2-40B4-BE49-F238E27FC236}">
                <a16:creationId xmlns:a16="http://schemas.microsoft.com/office/drawing/2014/main" id="{35A44C53-6276-0965-BBE2-CDA668021F84}"/>
              </a:ext>
            </a:extLst>
          </p:cNvPr>
          <p:cNvSpPr txBox="1"/>
          <p:nvPr/>
        </p:nvSpPr>
        <p:spPr>
          <a:xfrm>
            <a:off x="11590037" y="3126427"/>
            <a:ext cx="8238003" cy="2677656"/>
          </a:xfrm>
          <a:prstGeom prst="rect">
            <a:avLst/>
          </a:prstGeom>
          <a:noFill/>
        </p:spPr>
        <p:txBody>
          <a:bodyPr wrap="square" rtlCol="0">
            <a:spAutoFit/>
          </a:bodyPr>
          <a:lstStyle/>
          <a:p>
            <a:r>
              <a:rPr lang="en-GB" sz="2400" b="1" dirty="0">
                <a:latin typeface="Bell MT" panose="02020503060305020303" pitchFamily="18" charset="0"/>
              </a:rPr>
              <a:t>DATA</a:t>
            </a:r>
          </a:p>
          <a:p>
            <a:r>
              <a:rPr lang="en-US" sz="2400" b="1" dirty="0">
                <a:latin typeface="Bell MT" panose="02020503060305020303" pitchFamily="18" charset="0"/>
              </a:rPr>
              <a:t>Four monthly UK series were used in the analysis: GB7S, K55O, GMAA and GMAK. Since the datasets were not all available over the same period, the data were cleaned and aligned to one common sample running from January 2000 to December 2023. This gave 288 monthly observations and allowed all methods to be compared on the same date range. </a:t>
            </a:r>
            <a:endParaRPr lang="en-GB" sz="2400" b="1" dirty="0">
              <a:latin typeface="Bell MT" panose="02020503060305020303" pitchFamily="18" charset="0"/>
            </a:endParaRPr>
          </a:p>
        </p:txBody>
      </p:sp>
      <p:sp>
        <p:nvSpPr>
          <p:cNvPr id="18" name="TextBox 17">
            <a:extLst>
              <a:ext uri="{FF2B5EF4-FFF2-40B4-BE49-F238E27FC236}">
                <a16:creationId xmlns:a16="http://schemas.microsoft.com/office/drawing/2014/main" id="{92670065-2710-A83D-FDC6-651FBA84C2D5}"/>
              </a:ext>
            </a:extLst>
          </p:cNvPr>
          <p:cNvSpPr txBox="1"/>
          <p:nvPr/>
        </p:nvSpPr>
        <p:spPr>
          <a:xfrm>
            <a:off x="22449176" y="3177022"/>
            <a:ext cx="8207286" cy="2677656"/>
          </a:xfrm>
          <a:prstGeom prst="rect">
            <a:avLst/>
          </a:prstGeom>
          <a:noFill/>
        </p:spPr>
        <p:txBody>
          <a:bodyPr wrap="square" rtlCol="0">
            <a:spAutoFit/>
          </a:bodyPr>
          <a:lstStyle/>
          <a:p>
            <a:r>
              <a:rPr lang="en-GB" sz="2400" b="1" dirty="0">
                <a:latin typeface="Bell MT" panose="02020503060305020303" pitchFamily="18" charset="0"/>
              </a:rPr>
              <a:t>METHODS</a:t>
            </a:r>
          </a:p>
          <a:p>
            <a:r>
              <a:rPr lang="en-US" sz="2400" b="1" dirty="0">
                <a:latin typeface="Bell MT" panose="02020503060305020303" pitchFamily="18" charset="0"/>
              </a:rPr>
              <a:t>Different forecasting methods were tested and compared. Exponential smoothing was first applied to all four series, while GB7S was then </a:t>
            </a:r>
            <a:r>
              <a:rPr lang="en-US" sz="2400" b="1" dirty="0" err="1">
                <a:latin typeface="Bell MT" panose="02020503060305020303" pitchFamily="18" charset="0"/>
              </a:rPr>
              <a:t>analysed</a:t>
            </a:r>
            <a:r>
              <a:rPr lang="en-US" sz="2400" b="1" dirty="0">
                <a:latin typeface="Bell MT" panose="02020503060305020303" pitchFamily="18" charset="0"/>
              </a:rPr>
              <a:t> further using ARIMA, multiple regression, and a further exploration method. The models were compared using forecast accuracy results and diagnostic checks to see which approach performed best</a:t>
            </a:r>
            <a:r>
              <a:rPr lang="en-US" dirty="0"/>
              <a:t>.</a:t>
            </a:r>
            <a:endParaRPr lang="en-GB" b="1" dirty="0">
              <a:latin typeface="Bell MT" panose="02020503060305020303" pitchFamily="18" charset="0"/>
            </a:endParaRPr>
          </a:p>
        </p:txBody>
      </p:sp>
      <p:sp>
        <p:nvSpPr>
          <p:cNvPr id="22" name="TextBox 21">
            <a:extLst>
              <a:ext uri="{FF2B5EF4-FFF2-40B4-BE49-F238E27FC236}">
                <a16:creationId xmlns:a16="http://schemas.microsoft.com/office/drawing/2014/main" id="{F8940CA7-EEAA-9013-54D0-ACF96B1F0806}"/>
              </a:ext>
            </a:extLst>
          </p:cNvPr>
          <p:cNvSpPr txBox="1"/>
          <p:nvPr/>
        </p:nvSpPr>
        <p:spPr>
          <a:xfrm>
            <a:off x="757035" y="6857460"/>
            <a:ext cx="6560458" cy="3477875"/>
          </a:xfrm>
          <a:prstGeom prst="rect">
            <a:avLst/>
          </a:prstGeom>
          <a:noFill/>
        </p:spPr>
        <p:txBody>
          <a:bodyPr wrap="square" rtlCol="0">
            <a:spAutoFit/>
          </a:bodyPr>
          <a:lstStyle/>
          <a:p>
            <a:r>
              <a:rPr lang="en-GB" sz="2000" b="1" dirty="0">
                <a:latin typeface="Bell MT" panose="02020503060305020303" pitchFamily="18" charset="0"/>
              </a:rPr>
              <a:t>EXPONENTIAL SMOOTHING</a:t>
            </a:r>
          </a:p>
          <a:p>
            <a:endParaRPr lang="en-GB" sz="2000" b="1" dirty="0">
              <a:latin typeface="Bell MT" panose="02020503060305020303" pitchFamily="18" charset="0"/>
            </a:endParaRPr>
          </a:p>
          <a:p>
            <a:r>
              <a:rPr lang="en-US" sz="2000" b="1" dirty="0">
                <a:latin typeface="Bell MT" panose="02020503060305020303" pitchFamily="18" charset="0"/>
              </a:rPr>
              <a:t>Exponential smoothing was used on all four series to see which model matched the data best. The results showed that the same model did not work equally well for every series, because each variable had a different pattern over time. For some series, trend was the main feature, while for others seasonality was more important. This meant that models which allowed for trend or seasonal movement generally performed better than simple exponential smoothing.</a:t>
            </a:r>
            <a:endParaRPr lang="en-GB" sz="2000" b="1" dirty="0">
              <a:latin typeface="Bell MT" panose="02020503060305020303" pitchFamily="18" charset="0"/>
            </a:endParaRPr>
          </a:p>
        </p:txBody>
      </p:sp>
      <p:graphicFrame>
        <p:nvGraphicFramePr>
          <p:cNvPr id="23" name="Table 22">
            <a:extLst>
              <a:ext uri="{FF2B5EF4-FFF2-40B4-BE49-F238E27FC236}">
                <a16:creationId xmlns:a16="http://schemas.microsoft.com/office/drawing/2014/main" id="{58826E76-B1E9-E064-1679-0977FB19CF82}"/>
              </a:ext>
            </a:extLst>
          </p:cNvPr>
          <p:cNvGraphicFramePr>
            <a:graphicFrameLocks noGrp="1"/>
          </p:cNvGraphicFramePr>
          <p:nvPr>
            <p:extLst>
              <p:ext uri="{D42A27DB-BD31-4B8C-83A1-F6EECF244321}">
                <p14:modId xmlns:p14="http://schemas.microsoft.com/office/powerpoint/2010/main" val="4182023647"/>
              </p:ext>
            </p:extLst>
          </p:nvPr>
        </p:nvGraphicFramePr>
        <p:xfrm>
          <a:off x="495300" y="10992395"/>
          <a:ext cx="7052511" cy="6472160"/>
        </p:xfrm>
        <a:graphic>
          <a:graphicData uri="http://schemas.openxmlformats.org/drawingml/2006/table">
            <a:tbl>
              <a:tblPr firstRow="1" bandRow="1">
                <a:tableStyleId>{5C22544A-7EE6-4342-B048-85BDC9FD1C3A}</a:tableStyleId>
              </a:tblPr>
              <a:tblGrid>
                <a:gridCol w="1151644">
                  <a:extLst>
                    <a:ext uri="{9D8B030D-6E8A-4147-A177-3AD203B41FA5}">
                      <a16:colId xmlns:a16="http://schemas.microsoft.com/office/drawing/2014/main" val="3104927553"/>
                    </a:ext>
                  </a:extLst>
                </a:gridCol>
                <a:gridCol w="1763694">
                  <a:extLst>
                    <a:ext uri="{9D8B030D-6E8A-4147-A177-3AD203B41FA5}">
                      <a16:colId xmlns:a16="http://schemas.microsoft.com/office/drawing/2014/main" val="4078609003"/>
                    </a:ext>
                  </a:extLst>
                </a:gridCol>
                <a:gridCol w="1907084">
                  <a:extLst>
                    <a:ext uri="{9D8B030D-6E8A-4147-A177-3AD203B41FA5}">
                      <a16:colId xmlns:a16="http://schemas.microsoft.com/office/drawing/2014/main" val="946867399"/>
                    </a:ext>
                  </a:extLst>
                </a:gridCol>
                <a:gridCol w="1111271">
                  <a:extLst>
                    <a:ext uri="{9D8B030D-6E8A-4147-A177-3AD203B41FA5}">
                      <a16:colId xmlns:a16="http://schemas.microsoft.com/office/drawing/2014/main" val="1829245697"/>
                    </a:ext>
                  </a:extLst>
                </a:gridCol>
                <a:gridCol w="1118818">
                  <a:extLst>
                    <a:ext uri="{9D8B030D-6E8A-4147-A177-3AD203B41FA5}">
                      <a16:colId xmlns:a16="http://schemas.microsoft.com/office/drawing/2014/main" val="2379566076"/>
                    </a:ext>
                  </a:extLst>
                </a:gridCol>
              </a:tblGrid>
              <a:tr h="331413">
                <a:tc>
                  <a:txBody>
                    <a:bodyPr/>
                    <a:lstStyle/>
                    <a:p>
                      <a:pPr algn="ctr"/>
                      <a:r>
                        <a:rPr lang="en-GB" sz="1600" b="1" dirty="0">
                          <a:latin typeface="Bell MT" panose="02020503060305020303" pitchFamily="18" charset="0"/>
                        </a:rPr>
                        <a:t>SERIES</a:t>
                      </a:r>
                    </a:p>
                  </a:txBody>
                  <a:tcPr/>
                </a:tc>
                <a:tc>
                  <a:txBody>
                    <a:bodyPr/>
                    <a:lstStyle/>
                    <a:p>
                      <a:pPr algn="ctr"/>
                      <a:r>
                        <a:rPr lang="en-GB" sz="1600" b="1" dirty="0">
                          <a:latin typeface="Bell MT" panose="02020503060305020303" pitchFamily="18" charset="0"/>
                        </a:rPr>
                        <a:t>BEST MODEL</a:t>
                      </a:r>
                    </a:p>
                  </a:txBody>
                  <a:tcPr/>
                </a:tc>
                <a:tc>
                  <a:txBody>
                    <a:bodyPr/>
                    <a:lstStyle/>
                    <a:p>
                      <a:pPr algn="ctr"/>
                      <a:r>
                        <a:rPr lang="en-GB" sz="1600" b="1" dirty="0">
                          <a:latin typeface="Bell MT" panose="02020503060305020303" pitchFamily="18" charset="0"/>
                        </a:rPr>
                        <a:t>REASON</a:t>
                      </a:r>
                    </a:p>
                  </a:txBody>
                  <a:tcPr/>
                </a:tc>
                <a:tc>
                  <a:txBody>
                    <a:bodyPr/>
                    <a:lstStyle/>
                    <a:p>
                      <a:pPr algn="ctr"/>
                      <a:r>
                        <a:rPr lang="en-GB" sz="1600" b="1" dirty="0">
                          <a:latin typeface="Bell MT" panose="02020503060305020303" pitchFamily="18" charset="0"/>
                        </a:rPr>
                        <a:t>MAE</a:t>
                      </a:r>
                    </a:p>
                  </a:txBody>
                  <a:tcPr/>
                </a:tc>
                <a:tc>
                  <a:txBody>
                    <a:bodyPr/>
                    <a:lstStyle/>
                    <a:p>
                      <a:pPr algn="ctr"/>
                      <a:r>
                        <a:rPr lang="en-GB" sz="1600" b="1" dirty="0">
                          <a:latin typeface="Bell MT" panose="02020503060305020303" pitchFamily="18" charset="0"/>
                        </a:rPr>
                        <a:t>RMSE</a:t>
                      </a:r>
                    </a:p>
                  </a:txBody>
                  <a:tcPr/>
                </a:tc>
                <a:extLst>
                  <a:ext uri="{0D108BD9-81ED-4DB2-BD59-A6C34878D82A}">
                    <a16:rowId xmlns:a16="http://schemas.microsoft.com/office/drawing/2014/main" val="607861389"/>
                  </a:ext>
                </a:extLst>
              </a:tr>
              <a:tr h="1534220">
                <a:tc>
                  <a:txBody>
                    <a:bodyPr/>
                    <a:lstStyle/>
                    <a:p>
                      <a:pPr algn="ctr"/>
                      <a:r>
                        <a:rPr lang="en-GB" sz="1600" b="1" dirty="0">
                          <a:latin typeface="Bell MT" panose="02020503060305020303" pitchFamily="18" charset="0"/>
                        </a:rPr>
                        <a:t>GB7S</a:t>
                      </a:r>
                    </a:p>
                  </a:txBody>
                  <a:tcPr/>
                </a:tc>
                <a:tc>
                  <a:txBody>
                    <a:bodyPr/>
                    <a:lstStyle/>
                    <a:p>
                      <a:pPr algn="ctr"/>
                      <a:r>
                        <a:rPr lang="en-GB" sz="1600" b="1" dirty="0">
                          <a:latin typeface="Bell MT" panose="02020503060305020303" pitchFamily="18" charset="0"/>
                        </a:rPr>
                        <a:t>Holt’s Method</a:t>
                      </a:r>
                    </a:p>
                  </a:txBody>
                  <a:tcPr/>
                </a:tc>
                <a:tc>
                  <a:txBody>
                    <a:bodyPr/>
                    <a:lstStyle/>
                    <a:p>
                      <a:pPr algn="ctr"/>
                      <a:r>
                        <a:rPr lang="en-US" sz="1600" b="1" dirty="0">
                          <a:latin typeface="Bell MT" panose="02020503060305020303" pitchFamily="18" charset="0"/>
                        </a:rPr>
                        <a:t>Upward trend, no strong seasonality</a:t>
                      </a:r>
                      <a:endParaRPr lang="en-GB" sz="1600" b="1" dirty="0">
                        <a:latin typeface="Bell MT" panose="02020503060305020303" pitchFamily="18" charset="0"/>
                      </a:endParaRPr>
                    </a:p>
                  </a:txBody>
                  <a:tcPr/>
                </a:tc>
                <a:tc>
                  <a:txBody>
                    <a:bodyPr/>
                    <a:lstStyle/>
                    <a:p>
                      <a:pPr algn="ctr"/>
                      <a:r>
                        <a:rPr lang="en-GB" sz="1600" b="1" dirty="0">
                          <a:latin typeface="Bell MT" panose="02020503060305020303" pitchFamily="18" charset="0"/>
                        </a:rPr>
                        <a:t>9.86</a:t>
                      </a:r>
                    </a:p>
                  </a:txBody>
                  <a:tcPr/>
                </a:tc>
                <a:tc>
                  <a:txBody>
                    <a:bodyPr/>
                    <a:lstStyle/>
                    <a:p>
                      <a:pPr algn="ctr"/>
                      <a:r>
                        <a:rPr lang="en-GB" sz="1600" b="1" dirty="0">
                          <a:latin typeface="Bell MT" panose="02020503060305020303" pitchFamily="18" charset="0"/>
                        </a:rPr>
                        <a:t>11.54</a:t>
                      </a:r>
                    </a:p>
                  </a:txBody>
                  <a:tcPr/>
                </a:tc>
                <a:extLst>
                  <a:ext uri="{0D108BD9-81ED-4DB2-BD59-A6C34878D82A}">
                    <a16:rowId xmlns:a16="http://schemas.microsoft.com/office/drawing/2014/main" val="4019602350"/>
                  </a:ext>
                </a:extLst>
              </a:tr>
              <a:tr h="1534220">
                <a:tc>
                  <a:txBody>
                    <a:bodyPr/>
                    <a:lstStyle/>
                    <a:p>
                      <a:pPr algn="ctr"/>
                      <a:r>
                        <a:rPr lang="en-GB" sz="1600" b="1" dirty="0">
                          <a:latin typeface="Bell MT" panose="02020503060305020303" pitchFamily="18" charset="0"/>
                        </a:rPr>
                        <a:t>K55O</a:t>
                      </a:r>
                    </a:p>
                  </a:txBody>
                  <a:tcPr/>
                </a:tc>
                <a:tc>
                  <a:txBody>
                    <a:bodyPr/>
                    <a:lstStyle/>
                    <a:p>
                      <a:pPr algn="ctr"/>
                      <a:r>
                        <a:rPr lang="en-GB" sz="1600" b="1" dirty="0">
                          <a:latin typeface="Bell MT" panose="02020503060305020303" pitchFamily="18" charset="0"/>
                        </a:rPr>
                        <a:t>Holt–Winters multiplicative</a:t>
                      </a:r>
                    </a:p>
                  </a:txBody>
                  <a:tcPr/>
                </a:tc>
                <a:tc>
                  <a:txBody>
                    <a:bodyPr/>
                    <a:lstStyle/>
                    <a:p>
                      <a:pPr algn="ctr"/>
                      <a:r>
                        <a:rPr lang="en-US" sz="1600" b="1" dirty="0">
                          <a:latin typeface="Bell MT" panose="02020503060305020303" pitchFamily="18" charset="0"/>
                        </a:rPr>
                        <a:t>Trend + seasonality with larger swings at higher levels</a:t>
                      </a:r>
                      <a:endParaRPr lang="en-GB" sz="1600" b="1" dirty="0">
                        <a:latin typeface="Bell MT" panose="02020503060305020303" pitchFamily="18" charset="0"/>
                      </a:endParaRPr>
                    </a:p>
                  </a:txBody>
                  <a:tcPr/>
                </a:tc>
                <a:tc>
                  <a:txBody>
                    <a:bodyPr/>
                    <a:lstStyle/>
                    <a:p>
                      <a:pPr algn="ctr"/>
                      <a:r>
                        <a:rPr lang="en-GB" sz="1600" b="1" dirty="0">
                          <a:latin typeface="Bell MT" panose="02020503060305020303" pitchFamily="18" charset="0"/>
                        </a:rPr>
                        <a:t>35.87</a:t>
                      </a:r>
                    </a:p>
                  </a:txBody>
                  <a:tcPr/>
                </a:tc>
                <a:tc>
                  <a:txBody>
                    <a:bodyPr/>
                    <a:lstStyle/>
                    <a:p>
                      <a:pPr algn="ctr"/>
                      <a:r>
                        <a:rPr lang="en-GB" sz="1600" b="1" dirty="0">
                          <a:latin typeface="Bell MT" panose="02020503060305020303" pitchFamily="18" charset="0"/>
                        </a:rPr>
                        <a:t>44.01</a:t>
                      </a:r>
                    </a:p>
                  </a:txBody>
                  <a:tcPr/>
                </a:tc>
                <a:extLst>
                  <a:ext uri="{0D108BD9-81ED-4DB2-BD59-A6C34878D82A}">
                    <a16:rowId xmlns:a16="http://schemas.microsoft.com/office/drawing/2014/main" val="1621154794"/>
                  </a:ext>
                </a:extLst>
              </a:tr>
              <a:tr h="1534220">
                <a:tc>
                  <a:txBody>
                    <a:bodyPr/>
                    <a:lstStyle/>
                    <a:p>
                      <a:pPr algn="ctr"/>
                      <a:r>
                        <a:rPr lang="en-GB" sz="1600" b="1" dirty="0">
                          <a:latin typeface="Bell MT" panose="02020503060305020303" pitchFamily="18" charset="0"/>
                        </a:rPr>
                        <a:t>GMAA</a:t>
                      </a:r>
                    </a:p>
                  </a:txBody>
                  <a:tcPr/>
                </a:tc>
                <a:tc>
                  <a:txBody>
                    <a:bodyPr/>
                    <a:lstStyle/>
                    <a:p>
                      <a:pPr algn="ctr"/>
                      <a:r>
                        <a:rPr lang="en-GB" sz="1600" b="1" dirty="0">
                          <a:latin typeface="Bell MT" panose="02020503060305020303" pitchFamily="18" charset="0"/>
                        </a:rPr>
                        <a:t>Holt–Winters additive</a:t>
                      </a:r>
                    </a:p>
                  </a:txBody>
                  <a:tcPr/>
                </a:tc>
                <a:tc>
                  <a:txBody>
                    <a:bodyPr/>
                    <a:lstStyle/>
                    <a:p>
                      <a:pPr algn="ctr"/>
                      <a:r>
                        <a:rPr lang="en-US" sz="1600" b="1" dirty="0">
                          <a:latin typeface="Bell MT" panose="02020503060305020303" pitchFamily="18" charset="0"/>
                        </a:rPr>
                        <a:t>Strong seasonality with pandemic shock; additive handled recovery better</a:t>
                      </a:r>
                      <a:endParaRPr lang="en-GB" sz="1600" b="1" dirty="0">
                        <a:latin typeface="Bell MT" panose="02020503060305020303" pitchFamily="18" charset="0"/>
                      </a:endParaRPr>
                    </a:p>
                  </a:txBody>
                  <a:tcPr/>
                </a:tc>
                <a:tc>
                  <a:txBody>
                    <a:bodyPr/>
                    <a:lstStyle/>
                    <a:p>
                      <a:pPr algn="ctr"/>
                      <a:r>
                        <a:rPr lang="en-GB" sz="1600" b="1" dirty="0">
                          <a:latin typeface="Bell MT" panose="02020503060305020303" pitchFamily="18" charset="0"/>
                        </a:rPr>
                        <a:t>1709.37</a:t>
                      </a:r>
                    </a:p>
                  </a:txBody>
                  <a:tcPr/>
                </a:tc>
                <a:tc>
                  <a:txBody>
                    <a:bodyPr/>
                    <a:lstStyle/>
                    <a:p>
                      <a:pPr algn="ctr"/>
                      <a:r>
                        <a:rPr lang="en-GB" sz="1600" b="1" dirty="0">
                          <a:latin typeface="Bell MT" panose="02020503060305020303" pitchFamily="18" charset="0"/>
                        </a:rPr>
                        <a:t>1961.80</a:t>
                      </a:r>
                    </a:p>
                  </a:txBody>
                  <a:tcPr/>
                </a:tc>
                <a:extLst>
                  <a:ext uri="{0D108BD9-81ED-4DB2-BD59-A6C34878D82A}">
                    <a16:rowId xmlns:a16="http://schemas.microsoft.com/office/drawing/2014/main" val="2100389395"/>
                  </a:ext>
                </a:extLst>
              </a:tr>
              <a:tr h="1534220">
                <a:tc>
                  <a:txBody>
                    <a:bodyPr/>
                    <a:lstStyle/>
                    <a:p>
                      <a:pPr algn="ctr"/>
                      <a:r>
                        <a:rPr lang="en-GB" sz="1600" b="1" dirty="0">
                          <a:latin typeface="Bell MT" panose="02020503060305020303" pitchFamily="18" charset="0"/>
                        </a:rPr>
                        <a:t>GMAK</a:t>
                      </a:r>
                    </a:p>
                  </a:txBody>
                  <a:tcPr/>
                </a:tc>
                <a:tc>
                  <a:txBody>
                    <a:bodyPr/>
                    <a:lstStyle/>
                    <a:p>
                      <a:pPr algn="ctr"/>
                      <a:r>
                        <a:rPr lang="en-GB" sz="1600" b="1" dirty="0">
                          <a:latin typeface="Bell MT" panose="02020503060305020303" pitchFamily="18" charset="0"/>
                        </a:rPr>
                        <a:t>Holt–Winters additive</a:t>
                      </a:r>
                    </a:p>
                  </a:txBody>
                  <a:tcPr/>
                </a:tc>
                <a:tc>
                  <a:txBody>
                    <a:bodyPr/>
                    <a:lstStyle/>
                    <a:p>
                      <a:pPr algn="ctr"/>
                      <a:r>
                        <a:rPr lang="en-US" sz="1600" b="1" dirty="0">
                          <a:latin typeface="Bell MT" panose="02020503060305020303" pitchFamily="18" charset="0"/>
                        </a:rPr>
                        <a:t>Seasonal pattern with disruption; additive slightly outperformed multiplicative</a:t>
                      </a:r>
                      <a:endParaRPr lang="en-GB" sz="1600" b="1" dirty="0">
                        <a:latin typeface="Bell MT" panose="02020503060305020303" pitchFamily="18" charset="0"/>
                      </a:endParaRPr>
                    </a:p>
                  </a:txBody>
                  <a:tcPr/>
                </a:tc>
                <a:tc>
                  <a:txBody>
                    <a:bodyPr/>
                    <a:lstStyle/>
                    <a:p>
                      <a:pPr algn="ctr"/>
                      <a:r>
                        <a:rPr lang="en-GB" sz="1600" b="1" dirty="0">
                          <a:latin typeface="Bell MT" panose="02020503060305020303" pitchFamily="18" charset="0"/>
                        </a:rPr>
                        <a:t>1571.05</a:t>
                      </a:r>
                    </a:p>
                  </a:txBody>
                  <a:tcPr/>
                </a:tc>
                <a:tc>
                  <a:txBody>
                    <a:bodyPr/>
                    <a:lstStyle/>
                    <a:p>
                      <a:pPr algn="ctr"/>
                      <a:r>
                        <a:rPr lang="en-GB" sz="1600" b="1" dirty="0">
                          <a:latin typeface="Bell MT" panose="02020503060305020303" pitchFamily="18" charset="0"/>
                        </a:rPr>
                        <a:t>1850.30</a:t>
                      </a:r>
                    </a:p>
                  </a:txBody>
                  <a:tcPr/>
                </a:tc>
                <a:extLst>
                  <a:ext uri="{0D108BD9-81ED-4DB2-BD59-A6C34878D82A}">
                    <a16:rowId xmlns:a16="http://schemas.microsoft.com/office/drawing/2014/main" val="1153231386"/>
                  </a:ext>
                </a:extLst>
              </a:tr>
            </a:tbl>
          </a:graphicData>
        </a:graphic>
      </p:graphicFrame>
      <p:sp>
        <p:nvSpPr>
          <p:cNvPr id="24" name="TextBox 23">
            <a:extLst>
              <a:ext uri="{FF2B5EF4-FFF2-40B4-BE49-F238E27FC236}">
                <a16:creationId xmlns:a16="http://schemas.microsoft.com/office/drawing/2014/main" id="{A5F39A34-5EE0-0E7D-2891-10F7240E26BA}"/>
              </a:ext>
            </a:extLst>
          </p:cNvPr>
          <p:cNvSpPr txBox="1"/>
          <p:nvPr/>
        </p:nvSpPr>
        <p:spPr>
          <a:xfrm>
            <a:off x="8707807" y="6857460"/>
            <a:ext cx="6476045" cy="6555641"/>
          </a:xfrm>
          <a:prstGeom prst="rect">
            <a:avLst/>
          </a:prstGeom>
          <a:noFill/>
        </p:spPr>
        <p:txBody>
          <a:bodyPr wrap="square" rtlCol="0">
            <a:spAutoFit/>
          </a:bodyPr>
          <a:lstStyle/>
          <a:p>
            <a:r>
              <a:rPr lang="en-US" sz="2400" b="1" dirty="0">
                <a:latin typeface="Bell MT" panose="02020503060305020303" pitchFamily="18" charset="0"/>
              </a:rPr>
              <a:t>ARIMA</a:t>
            </a:r>
          </a:p>
          <a:p>
            <a:endParaRPr lang="en-US" b="1" dirty="0">
              <a:latin typeface="Bell MT" panose="02020503060305020303" pitchFamily="18" charset="0"/>
            </a:endParaRPr>
          </a:p>
          <a:p>
            <a:r>
              <a:rPr lang="en-US" b="1" dirty="0">
                <a:latin typeface="Bell MT" panose="02020503060305020303" pitchFamily="18" charset="0"/>
              </a:rPr>
              <a:t>GB7S was first differenced once because the original series had a clear upward trend and was not stationary. After differencing, three low-order models were tested: ARIMA(1,1,0), ARIMA(0,1,1) and ARIMA(1,1,1). ARIMA(1,1,1) was selected because it gave the lowest AIC and BIC, the highest log-likelihood, and both estimated terms were statistically significant. </a:t>
            </a:r>
          </a:p>
          <a:p>
            <a:r>
              <a:rPr lang="en-US" b="1" dirty="0">
                <a:latin typeface="Bell MT" panose="02020503060305020303" pitchFamily="18" charset="0"/>
              </a:rPr>
              <a:t>The diagnostic results suggested that the model fitted the training data reasonably well. The residuals stayed close to zero apart from one early spike, the residual autocorrelations were small and within the confidence bounds, and the Ljung–Box test gave p-values of 1.000 at lags 10 and 20. This meant there was no strong evidence of remaining autocorrelation after estimation. </a:t>
            </a:r>
          </a:p>
          <a:p>
            <a:r>
              <a:rPr lang="en-US" b="1" dirty="0">
                <a:latin typeface="Bell MT" panose="02020503060305020303" pitchFamily="18" charset="0"/>
              </a:rPr>
              <a:t>However, the out-of-sample forecasts were much weaker. Over the January 2021 to December 2023 test period, ARIMA(1,1,1) produced an MAE of 18.269 and an RMSE of 21.055. Its forecast path remained almost flat, while the actual GB7S series continued to rise, so the model repeatedly underpredicted the observed values.</a:t>
            </a:r>
          </a:p>
          <a:p>
            <a:endParaRPr lang="en-US" dirty="0"/>
          </a:p>
        </p:txBody>
      </p:sp>
      <p:graphicFrame>
        <p:nvGraphicFramePr>
          <p:cNvPr id="25" name="Table 24">
            <a:extLst>
              <a:ext uri="{FF2B5EF4-FFF2-40B4-BE49-F238E27FC236}">
                <a16:creationId xmlns:a16="http://schemas.microsoft.com/office/drawing/2014/main" id="{E9D27015-17D4-DF10-9E48-2775BE8462BA}"/>
              </a:ext>
            </a:extLst>
          </p:cNvPr>
          <p:cNvGraphicFramePr>
            <a:graphicFrameLocks noGrp="1"/>
          </p:cNvGraphicFramePr>
          <p:nvPr>
            <p:extLst>
              <p:ext uri="{D42A27DB-BD31-4B8C-83A1-F6EECF244321}">
                <p14:modId xmlns:p14="http://schemas.microsoft.com/office/powerpoint/2010/main" val="3277322504"/>
              </p:ext>
            </p:extLst>
          </p:nvPr>
        </p:nvGraphicFramePr>
        <p:xfrm>
          <a:off x="8414083" y="13699893"/>
          <a:ext cx="7063491" cy="731520"/>
        </p:xfrm>
        <a:graphic>
          <a:graphicData uri="http://schemas.openxmlformats.org/drawingml/2006/table">
            <a:tbl>
              <a:tblPr firstRow="1" bandRow="1">
                <a:tableStyleId>{5C22544A-7EE6-4342-B048-85BDC9FD1C3A}</a:tableStyleId>
              </a:tblPr>
              <a:tblGrid>
                <a:gridCol w="2354497">
                  <a:extLst>
                    <a:ext uri="{9D8B030D-6E8A-4147-A177-3AD203B41FA5}">
                      <a16:colId xmlns:a16="http://schemas.microsoft.com/office/drawing/2014/main" val="263386184"/>
                    </a:ext>
                  </a:extLst>
                </a:gridCol>
                <a:gridCol w="2354497">
                  <a:extLst>
                    <a:ext uri="{9D8B030D-6E8A-4147-A177-3AD203B41FA5}">
                      <a16:colId xmlns:a16="http://schemas.microsoft.com/office/drawing/2014/main" val="3024588587"/>
                    </a:ext>
                  </a:extLst>
                </a:gridCol>
                <a:gridCol w="2354497">
                  <a:extLst>
                    <a:ext uri="{9D8B030D-6E8A-4147-A177-3AD203B41FA5}">
                      <a16:colId xmlns:a16="http://schemas.microsoft.com/office/drawing/2014/main" val="1815848452"/>
                    </a:ext>
                  </a:extLst>
                </a:gridCol>
              </a:tblGrid>
              <a:tr h="300627">
                <a:tc>
                  <a:txBody>
                    <a:bodyPr/>
                    <a:lstStyle/>
                    <a:p>
                      <a:pPr algn="ctr"/>
                      <a:r>
                        <a:rPr lang="en-GB" sz="1800" b="1" dirty="0">
                          <a:latin typeface="Bell MT" panose="02020503060305020303" pitchFamily="18" charset="0"/>
                        </a:rPr>
                        <a:t>MODEL</a:t>
                      </a:r>
                    </a:p>
                  </a:txBody>
                  <a:tcPr/>
                </a:tc>
                <a:tc>
                  <a:txBody>
                    <a:bodyPr/>
                    <a:lstStyle/>
                    <a:p>
                      <a:pPr algn="ctr"/>
                      <a:r>
                        <a:rPr lang="en-GB" sz="1800" b="1" dirty="0">
                          <a:latin typeface="Bell MT" panose="02020503060305020303" pitchFamily="18" charset="0"/>
                        </a:rPr>
                        <a:t>MAE</a:t>
                      </a:r>
                    </a:p>
                  </a:txBody>
                  <a:tcPr/>
                </a:tc>
                <a:tc>
                  <a:txBody>
                    <a:bodyPr/>
                    <a:lstStyle/>
                    <a:p>
                      <a:pPr algn="ctr"/>
                      <a:r>
                        <a:rPr lang="en-GB" sz="1800" b="1" dirty="0">
                          <a:latin typeface="Bell MT" panose="02020503060305020303" pitchFamily="18" charset="0"/>
                        </a:rPr>
                        <a:t>RMSE</a:t>
                      </a:r>
                    </a:p>
                  </a:txBody>
                  <a:tcPr/>
                </a:tc>
                <a:extLst>
                  <a:ext uri="{0D108BD9-81ED-4DB2-BD59-A6C34878D82A}">
                    <a16:rowId xmlns:a16="http://schemas.microsoft.com/office/drawing/2014/main" val="1533274532"/>
                  </a:ext>
                </a:extLst>
              </a:tr>
              <a:tr h="300627">
                <a:tc>
                  <a:txBody>
                    <a:bodyPr/>
                    <a:lstStyle/>
                    <a:p>
                      <a:pPr algn="ctr"/>
                      <a:r>
                        <a:rPr lang="en-GB" sz="1800" b="1" dirty="0">
                          <a:latin typeface="Bell MT" panose="02020503060305020303" pitchFamily="18" charset="0"/>
                        </a:rPr>
                        <a:t>ARIMA(1,1,1)</a:t>
                      </a:r>
                    </a:p>
                  </a:txBody>
                  <a:tcPr/>
                </a:tc>
                <a:tc>
                  <a:txBody>
                    <a:bodyPr/>
                    <a:lstStyle/>
                    <a:p>
                      <a:pPr algn="ctr"/>
                      <a:r>
                        <a:rPr lang="en-GB" sz="1800" b="1" dirty="0">
                          <a:latin typeface="Bell MT" panose="02020503060305020303" pitchFamily="18" charset="0"/>
                        </a:rPr>
                        <a:t>18.269</a:t>
                      </a:r>
                    </a:p>
                  </a:txBody>
                  <a:tcPr/>
                </a:tc>
                <a:tc>
                  <a:txBody>
                    <a:bodyPr/>
                    <a:lstStyle/>
                    <a:p>
                      <a:pPr algn="ctr"/>
                      <a:r>
                        <a:rPr lang="en-GB" sz="1800" b="1" dirty="0">
                          <a:latin typeface="Bell MT" panose="02020503060305020303" pitchFamily="18" charset="0"/>
                        </a:rPr>
                        <a:t>21.055</a:t>
                      </a:r>
                    </a:p>
                  </a:txBody>
                  <a:tcPr/>
                </a:tc>
                <a:extLst>
                  <a:ext uri="{0D108BD9-81ED-4DB2-BD59-A6C34878D82A}">
                    <a16:rowId xmlns:a16="http://schemas.microsoft.com/office/drawing/2014/main" val="2311581385"/>
                  </a:ext>
                </a:extLst>
              </a:tr>
            </a:tbl>
          </a:graphicData>
        </a:graphic>
      </p:graphicFrame>
      <p:sp>
        <p:nvSpPr>
          <p:cNvPr id="26" name="TextBox 25">
            <a:extLst>
              <a:ext uri="{FF2B5EF4-FFF2-40B4-BE49-F238E27FC236}">
                <a16:creationId xmlns:a16="http://schemas.microsoft.com/office/drawing/2014/main" id="{20B628A5-13D1-2E9C-41D1-474875D3B41E}"/>
              </a:ext>
            </a:extLst>
          </p:cNvPr>
          <p:cNvSpPr txBox="1"/>
          <p:nvPr/>
        </p:nvSpPr>
        <p:spPr>
          <a:xfrm>
            <a:off x="16690854" y="6857460"/>
            <a:ext cx="6290417" cy="6217087"/>
          </a:xfrm>
          <a:prstGeom prst="rect">
            <a:avLst/>
          </a:prstGeom>
          <a:noFill/>
        </p:spPr>
        <p:txBody>
          <a:bodyPr wrap="square" rtlCol="0">
            <a:spAutoFit/>
          </a:bodyPr>
          <a:lstStyle/>
          <a:p>
            <a:r>
              <a:rPr lang="en-US" sz="2000" b="1" dirty="0">
                <a:latin typeface="Bell MT" panose="02020503060305020303" pitchFamily="18" charset="0"/>
              </a:rPr>
              <a:t>REGRESSION</a:t>
            </a:r>
            <a:endParaRPr lang="en-US" b="1" dirty="0">
              <a:latin typeface="Bell MT" panose="02020503060305020303" pitchFamily="18" charset="0"/>
            </a:endParaRPr>
          </a:p>
          <a:p>
            <a:endParaRPr lang="en-US" b="1" dirty="0">
              <a:latin typeface="Bell MT" panose="02020503060305020303" pitchFamily="18" charset="0"/>
            </a:endParaRPr>
          </a:p>
          <a:p>
            <a:r>
              <a:rPr lang="en-US" b="1" dirty="0">
                <a:latin typeface="Bell MT" panose="02020503060305020303" pitchFamily="18" charset="0"/>
              </a:rPr>
              <a:t>GB7S was regressed on K55O, GMAA and GMAK using the training sample. The model fit looked strong at first, with an R² of 0.915, so it explained most of the movement in GB7S over the sample. Out of the three predictors, K55O was clearly the most useful one, which makes sense because its correlation with GB7S was 0.959. </a:t>
            </a:r>
          </a:p>
          <a:p>
            <a:r>
              <a:rPr lang="en-US" b="1" dirty="0">
                <a:latin typeface="Bell MT" panose="02020503060305020303" pitchFamily="18" charset="0"/>
              </a:rPr>
              <a:t>The coefficient signs were a bit mixed. K55O and GMAK came in positive, while GMAA came in negative. That negative sign did not really match the earlier simple relationship, so it is probably picking up overlap with the other explanatory variables rather than a clean separate effect. </a:t>
            </a:r>
          </a:p>
          <a:p>
            <a:r>
              <a:rPr lang="en-US" b="1" dirty="0">
                <a:latin typeface="Bell MT" panose="02020503060305020303" pitchFamily="18" charset="0"/>
              </a:rPr>
              <a:t>The main issue came from the diagnostics. The Durbin–Watson statistic was only 0.657, which suggests the residuals were still positively autocorrelated. On top of that, GMAA and GMAK had quite high VIF values of 8.005 and 8.976, so multicollinearity was also a problem. So even though the model looked good on fit, it was not completely reliable without caution. </a:t>
            </a:r>
          </a:p>
          <a:p>
            <a:endParaRPr lang="en-GB" dirty="0"/>
          </a:p>
        </p:txBody>
      </p:sp>
      <p:graphicFrame>
        <p:nvGraphicFramePr>
          <p:cNvPr id="27" name="Table 26">
            <a:extLst>
              <a:ext uri="{FF2B5EF4-FFF2-40B4-BE49-F238E27FC236}">
                <a16:creationId xmlns:a16="http://schemas.microsoft.com/office/drawing/2014/main" id="{9B396EC7-E56B-C431-11C7-9BA61BF1A34C}"/>
              </a:ext>
            </a:extLst>
          </p:cNvPr>
          <p:cNvGraphicFramePr>
            <a:graphicFrameLocks noGrp="1"/>
          </p:cNvGraphicFramePr>
          <p:nvPr>
            <p:extLst>
              <p:ext uri="{D42A27DB-BD31-4B8C-83A1-F6EECF244321}">
                <p14:modId xmlns:p14="http://schemas.microsoft.com/office/powerpoint/2010/main" val="3377888562"/>
              </p:ext>
            </p:extLst>
          </p:nvPr>
        </p:nvGraphicFramePr>
        <p:xfrm>
          <a:off x="16424440" y="12816948"/>
          <a:ext cx="6807200" cy="2225040"/>
        </p:xfrm>
        <a:graphic>
          <a:graphicData uri="http://schemas.openxmlformats.org/drawingml/2006/table">
            <a:tbl>
              <a:tblPr firstRow="1" bandRow="1">
                <a:tableStyleId>{5C22544A-7EE6-4342-B048-85BDC9FD1C3A}</a:tableStyleId>
              </a:tblPr>
              <a:tblGrid>
                <a:gridCol w="3403600">
                  <a:extLst>
                    <a:ext uri="{9D8B030D-6E8A-4147-A177-3AD203B41FA5}">
                      <a16:colId xmlns:a16="http://schemas.microsoft.com/office/drawing/2014/main" val="3557150911"/>
                    </a:ext>
                  </a:extLst>
                </a:gridCol>
                <a:gridCol w="3403600">
                  <a:extLst>
                    <a:ext uri="{9D8B030D-6E8A-4147-A177-3AD203B41FA5}">
                      <a16:colId xmlns:a16="http://schemas.microsoft.com/office/drawing/2014/main" val="2790557649"/>
                    </a:ext>
                  </a:extLst>
                </a:gridCol>
              </a:tblGrid>
              <a:tr h="370840">
                <a:tc>
                  <a:txBody>
                    <a:bodyPr/>
                    <a:lstStyle/>
                    <a:p>
                      <a:pPr algn="ctr"/>
                      <a:r>
                        <a:rPr lang="en-GB" sz="1800" b="1" dirty="0">
                          <a:latin typeface="Bell MT" panose="02020503060305020303" pitchFamily="18" charset="0"/>
                        </a:rPr>
                        <a:t>MEASURE</a:t>
                      </a:r>
                    </a:p>
                  </a:txBody>
                  <a:tcPr/>
                </a:tc>
                <a:tc>
                  <a:txBody>
                    <a:bodyPr/>
                    <a:lstStyle/>
                    <a:p>
                      <a:pPr algn="ctr"/>
                      <a:r>
                        <a:rPr lang="en-GB" sz="1800" b="1" dirty="0">
                          <a:latin typeface="Bell MT" panose="02020503060305020303" pitchFamily="18" charset="0"/>
                        </a:rPr>
                        <a:t>RESULT</a:t>
                      </a:r>
                    </a:p>
                  </a:txBody>
                  <a:tcPr/>
                </a:tc>
                <a:extLst>
                  <a:ext uri="{0D108BD9-81ED-4DB2-BD59-A6C34878D82A}">
                    <a16:rowId xmlns:a16="http://schemas.microsoft.com/office/drawing/2014/main" val="3166812996"/>
                  </a:ext>
                </a:extLst>
              </a:tr>
              <a:tr h="370840">
                <a:tc>
                  <a:txBody>
                    <a:bodyPr/>
                    <a:lstStyle/>
                    <a:p>
                      <a:pPr algn="ctr"/>
                      <a:r>
                        <a:rPr lang="en-GB" sz="1800" b="1" dirty="0">
                          <a:latin typeface="Bell MT" panose="02020503060305020303" pitchFamily="18" charset="0"/>
                        </a:rPr>
                        <a:t>R squared</a:t>
                      </a:r>
                    </a:p>
                  </a:txBody>
                  <a:tcPr/>
                </a:tc>
                <a:tc>
                  <a:txBody>
                    <a:bodyPr/>
                    <a:lstStyle/>
                    <a:p>
                      <a:pPr algn="ctr"/>
                      <a:r>
                        <a:rPr lang="en-GB" sz="1800" b="1" dirty="0">
                          <a:latin typeface="Bell MT" panose="02020503060305020303" pitchFamily="18" charset="0"/>
                        </a:rPr>
                        <a:t>0.915</a:t>
                      </a:r>
                    </a:p>
                  </a:txBody>
                  <a:tcPr/>
                </a:tc>
                <a:extLst>
                  <a:ext uri="{0D108BD9-81ED-4DB2-BD59-A6C34878D82A}">
                    <a16:rowId xmlns:a16="http://schemas.microsoft.com/office/drawing/2014/main" val="3593727134"/>
                  </a:ext>
                </a:extLst>
              </a:tr>
              <a:tr h="370840">
                <a:tc>
                  <a:txBody>
                    <a:bodyPr/>
                    <a:lstStyle/>
                    <a:p>
                      <a:pPr algn="ctr"/>
                      <a:r>
                        <a:rPr lang="en-GB" sz="1800" b="1" dirty="0">
                          <a:latin typeface="Bell MT" panose="02020503060305020303" pitchFamily="18" charset="0"/>
                        </a:rPr>
                        <a:t>Corr(GB7Z, K55O)</a:t>
                      </a:r>
                    </a:p>
                  </a:txBody>
                  <a:tcPr/>
                </a:tc>
                <a:tc>
                  <a:txBody>
                    <a:bodyPr/>
                    <a:lstStyle/>
                    <a:p>
                      <a:pPr algn="ctr"/>
                      <a:r>
                        <a:rPr lang="en-GB" sz="1800" b="1" dirty="0">
                          <a:latin typeface="Bell MT" panose="02020503060305020303" pitchFamily="18" charset="0"/>
                        </a:rPr>
                        <a:t>0.959</a:t>
                      </a:r>
                    </a:p>
                  </a:txBody>
                  <a:tcPr/>
                </a:tc>
                <a:extLst>
                  <a:ext uri="{0D108BD9-81ED-4DB2-BD59-A6C34878D82A}">
                    <a16:rowId xmlns:a16="http://schemas.microsoft.com/office/drawing/2014/main" val="1954124082"/>
                  </a:ext>
                </a:extLst>
              </a:tr>
              <a:tr h="370840">
                <a:tc>
                  <a:txBody>
                    <a:bodyPr/>
                    <a:lstStyle/>
                    <a:p>
                      <a:pPr algn="ctr"/>
                      <a:r>
                        <a:rPr lang="en-GB" sz="1800" b="1" dirty="0">
                          <a:latin typeface="Bell MT" panose="02020503060305020303" pitchFamily="18" charset="0"/>
                        </a:rPr>
                        <a:t>Durbin-Watson</a:t>
                      </a:r>
                    </a:p>
                  </a:txBody>
                  <a:tcPr/>
                </a:tc>
                <a:tc>
                  <a:txBody>
                    <a:bodyPr/>
                    <a:lstStyle/>
                    <a:p>
                      <a:pPr algn="ctr"/>
                      <a:r>
                        <a:rPr lang="en-GB" sz="1800" b="1" dirty="0">
                          <a:latin typeface="Bell MT" panose="02020503060305020303" pitchFamily="18" charset="0"/>
                        </a:rPr>
                        <a:t>0.657</a:t>
                      </a:r>
                    </a:p>
                  </a:txBody>
                  <a:tcPr/>
                </a:tc>
                <a:extLst>
                  <a:ext uri="{0D108BD9-81ED-4DB2-BD59-A6C34878D82A}">
                    <a16:rowId xmlns:a16="http://schemas.microsoft.com/office/drawing/2014/main" val="2877237992"/>
                  </a:ext>
                </a:extLst>
              </a:tr>
              <a:tr h="370840">
                <a:tc>
                  <a:txBody>
                    <a:bodyPr/>
                    <a:lstStyle/>
                    <a:p>
                      <a:pPr algn="ctr"/>
                      <a:r>
                        <a:rPr lang="en-GB" sz="1800" b="1" dirty="0">
                          <a:latin typeface="Bell MT" panose="02020503060305020303" pitchFamily="18" charset="0"/>
                        </a:rPr>
                        <a:t>CIF(GMAA)</a:t>
                      </a:r>
                    </a:p>
                  </a:txBody>
                  <a:tcPr/>
                </a:tc>
                <a:tc>
                  <a:txBody>
                    <a:bodyPr/>
                    <a:lstStyle/>
                    <a:p>
                      <a:pPr algn="ctr"/>
                      <a:r>
                        <a:rPr lang="en-GB" sz="1800" b="1" dirty="0">
                          <a:latin typeface="Bell MT" panose="02020503060305020303" pitchFamily="18" charset="0"/>
                        </a:rPr>
                        <a:t>8.005</a:t>
                      </a:r>
                    </a:p>
                  </a:txBody>
                  <a:tcPr/>
                </a:tc>
                <a:extLst>
                  <a:ext uri="{0D108BD9-81ED-4DB2-BD59-A6C34878D82A}">
                    <a16:rowId xmlns:a16="http://schemas.microsoft.com/office/drawing/2014/main" val="1957920163"/>
                  </a:ext>
                </a:extLst>
              </a:tr>
              <a:tr h="370840">
                <a:tc>
                  <a:txBody>
                    <a:bodyPr/>
                    <a:lstStyle/>
                    <a:p>
                      <a:pPr algn="ctr"/>
                      <a:r>
                        <a:rPr lang="en-GB" sz="1800" b="1" dirty="0">
                          <a:latin typeface="Bell MT" panose="02020503060305020303" pitchFamily="18" charset="0"/>
                        </a:rPr>
                        <a:t>VIF(GMAK)</a:t>
                      </a:r>
                    </a:p>
                  </a:txBody>
                  <a:tcPr/>
                </a:tc>
                <a:tc>
                  <a:txBody>
                    <a:bodyPr/>
                    <a:lstStyle/>
                    <a:p>
                      <a:pPr algn="ctr"/>
                      <a:r>
                        <a:rPr lang="en-GB" sz="1800" b="1" dirty="0">
                          <a:latin typeface="Bell MT" panose="02020503060305020303" pitchFamily="18" charset="0"/>
                        </a:rPr>
                        <a:t>8.976</a:t>
                      </a:r>
                    </a:p>
                  </a:txBody>
                  <a:tcPr/>
                </a:tc>
                <a:extLst>
                  <a:ext uri="{0D108BD9-81ED-4DB2-BD59-A6C34878D82A}">
                    <a16:rowId xmlns:a16="http://schemas.microsoft.com/office/drawing/2014/main" val="1226151600"/>
                  </a:ext>
                </a:extLst>
              </a:tr>
            </a:tbl>
          </a:graphicData>
        </a:graphic>
      </p:graphicFrame>
      <p:sp>
        <p:nvSpPr>
          <p:cNvPr id="28" name="TextBox 27">
            <a:extLst>
              <a:ext uri="{FF2B5EF4-FFF2-40B4-BE49-F238E27FC236}">
                <a16:creationId xmlns:a16="http://schemas.microsoft.com/office/drawing/2014/main" id="{D73CB2DA-E398-2CE7-B6BB-450B326D79E4}"/>
              </a:ext>
            </a:extLst>
          </p:cNvPr>
          <p:cNvSpPr txBox="1"/>
          <p:nvPr/>
        </p:nvSpPr>
        <p:spPr>
          <a:xfrm>
            <a:off x="24448169" y="6857460"/>
            <a:ext cx="5702467" cy="7879080"/>
          </a:xfrm>
          <a:prstGeom prst="rect">
            <a:avLst/>
          </a:prstGeom>
          <a:noFill/>
        </p:spPr>
        <p:txBody>
          <a:bodyPr wrap="square" rtlCol="0">
            <a:spAutoFit/>
          </a:bodyPr>
          <a:lstStyle/>
          <a:p>
            <a:r>
              <a:rPr lang="en-US" sz="2000" b="1" dirty="0">
                <a:latin typeface="Bell MT" panose="02020503060305020303" pitchFamily="18" charset="0"/>
              </a:rPr>
              <a:t>FURTHER EXPLORATION</a:t>
            </a:r>
          </a:p>
          <a:p>
            <a:endParaRPr lang="en-US" b="1" dirty="0">
              <a:latin typeface="Bell MT" panose="02020503060305020303" pitchFamily="18" charset="0"/>
            </a:endParaRPr>
          </a:p>
          <a:p>
            <a:r>
              <a:rPr lang="en-US" b="1" dirty="0">
                <a:latin typeface="Bell MT" panose="02020503060305020303" pitchFamily="18" charset="0"/>
              </a:rPr>
              <a:t>For the final part, an ARIMAX model was tested for GB7S to examine whether adding an external variable could improve the forecasts. K55O was chosen as the exogenous variable because earlier analysis showed that it had the strongest relationship with GB7S, with a correlation of 0.939 in the training sample. After first differencing, three simple ARIMAX models were considered: ARIMAX(1,1,0), ARIMAX(0,1,1) and ARIMAX(1,1,1). ARIMAX(1,1,1) was selected because it gave the lowest AIC of 298.472 among the three models. </a:t>
            </a:r>
          </a:p>
          <a:p>
            <a:r>
              <a:rPr lang="en-US" b="1" dirty="0">
                <a:latin typeface="Bell MT" panose="02020503060305020303" pitchFamily="18" charset="0"/>
              </a:rPr>
              <a:t>The forecast results were still weak. Over the 2021–2023 test period, ARIMAX(1,1,1) produced an MAE of 18.269 and an RMSE of 21.056, which were almost identical to the earlier ARIMA results. The forecasts also stayed nearly flat and failed to follow the upward movement in GB7S. This suggests that adding K55O did not improve forecast accuracy in any meaningful way.</a:t>
            </a:r>
          </a:p>
          <a:p>
            <a:r>
              <a:rPr lang="en-US" b="1" dirty="0">
                <a:latin typeface="Bell MT" panose="02020503060305020303" pitchFamily="18" charset="0"/>
              </a:rPr>
              <a:t>When the methods were compared, regression performed best, Holt exponential smoothing came second, and both ARIMA and ARIMAX were clearly weaker. So, the further exploration was useful to test, but it did not produce a better forecasting method for GB7S.</a:t>
            </a:r>
          </a:p>
          <a:p>
            <a:endParaRPr lang="en-GB" dirty="0"/>
          </a:p>
        </p:txBody>
      </p:sp>
      <p:graphicFrame>
        <p:nvGraphicFramePr>
          <p:cNvPr id="29" name="Table 28">
            <a:extLst>
              <a:ext uri="{FF2B5EF4-FFF2-40B4-BE49-F238E27FC236}">
                <a16:creationId xmlns:a16="http://schemas.microsoft.com/office/drawing/2014/main" id="{F28641A0-9C38-2F6C-64F3-B851FC93CEE9}"/>
              </a:ext>
            </a:extLst>
          </p:cNvPr>
          <p:cNvGraphicFramePr>
            <a:graphicFrameLocks noGrp="1"/>
          </p:cNvGraphicFramePr>
          <p:nvPr>
            <p:extLst>
              <p:ext uri="{D42A27DB-BD31-4B8C-83A1-F6EECF244321}">
                <p14:modId xmlns:p14="http://schemas.microsoft.com/office/powerpoint/2010/main" val="475356086"/>
              </p:ext>
            </p:extLst>
          </p:nvPr>
        </p:nvGraphicFramePr>
        <p:xfrm>
          <a:off x="24191494" y="14481126"/>
          <a:ext cx="6400800" cy="185420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425073231"/>
                    </a:ext>
                  </a:extLst>
                </a:gridCol>
                <a:gridCol w="2133600">
                  <a:extLst>
                    <a:ext uri="{9D8B030D-6E8A-4147-A177-3AD203B41FA5}">
                      <a16:colId xmlns:a16="http://schemas.microsoft.com/office/drawing/2014/main" val="3411669409"/>
                    </a:ext>
                  </a:extLst>
                </a:gridCol>
                <a:gridCol w="2133600">
                  <a:extLst>
                    <a:ext uri="{9D8B030D-6E8A-4147-A177-3AD203B41FA5}">
                      <a16:colId xmlns:a16="http://schemas.microsoft.com/office/drawing/2014/main" val="1184666111"/>
                    </a:ext>
                  </a:extLst>
                </a:gridCol>
              </a:tblGrid>
              <a:tr h="370840">
                <a:tc>
                  <a:txBody>
                    <a:bodyPr/>
                    <a:lstStyle/>
                    <a:p>
                      <a:pPr algn="ctr"/>
                      <a:r>
                        <a:rPr lang="en-GB" sz="1800" b="1" dirty="0">
                          <a:latin typeface="Bell MT" panose="02020503060305020303" pitchFamily="18" charset="0"/>
                        </a:rPr>
                        <a:t>MODEL</a:t>
                      </a:r>
                    </a:p>
                  </a:txBody>
                  <a:tcPr/>
                </a:tc>
                <a:tc>
                  <a:txBody>
                    <a:bodyPr/>
                    <a:lstStyle/>
                    <a:p>
                      <a:pPr algn="ctr"/>
                      <a:r>
                        <a:rPr lang="en-GB" sz="1800" b="1" dirty="0">
                          <a:latin typeface="Bell MT" panose="02020503060305020303" pitchFamily="18" charset="0"/>
                        </a:rPr>
                        <a:t>MAE</a:t>
                      </a:r>
                    </a:p>
                  </a:txBody>
                  <a:tcPr/>
                </a:tc>
                <a:tc>
                  <a:txBody>
                    <a:bodyPr/>
                    <a:lstStyle/>
                    <a:p>
                      <a:pPr algn="ctr"/>
                      <a:r>
                        <a:rPr lang="en-GB" sz="1800" b="1" dirty="0">
                          <a:latin typeface="Bell MT" panose="02020503060305020303" pitchFamily="18" charset="0"/>
                        </a:rPr>
                        <a:t>RMSE</a:t>
                      </a:r>
                    </a:p>
                  </a:txBody>
                  <a:tcPr/>
                </a:tc>
                <a:extLst>
                  <a:ext uri="{0D108BD9-81ED-4DB2-BD59-A6C34878D82A}">
                    <a16:rowId xmlns:a16="http://schemas.microsoft.com/office/drawing/2014/main" val="809615583"/>
                  </a:ext>
                </a:extLst>
              </a:tr>
              <a:tr h="370840">
                <a:tc>
                  <a:txBody>
                    <a:bodyPr/>
                    <a:lstStyle/>
                    <a:p>
                      <a:pPr algn="ctr"/>
                      <a:r>
                        <a:rPr lang="en-GB" sz="1800" b="1" dirty="0">
                          <a:latin typeface="Bell MT" panose="02020503060305020303" pitchFamily="18" charset="0"/>
                        </a:rPr>
                        <a:t>Regression</a:t>
                      </a:r>
                    </a:p>
                  </a:txBody>
                  <a:tcPr/>
                </a:tc>
                <a:tc>
                  <a:txBody>
                    <a:bodyPr/>
                    <a:lstStyle/>
                    <a:p>
                      <a:pPr algn="ctr"/>
                      <a:r>
                        <a:rPr lang="en-GB" sz="1800" b="1" dirty="0">
                          <a:latin typeface="Bell MT" panose="02020503060305020303" pitchFamily="18" charset="0"/>
                        </a:rPr>
                        <a:t>4.771</a:t>
                      </a:r>
                    </a:p>
                  </a:txBody>
                  <a:tcPr/>
                </a:tc>
                <a:tc>
                  <a:txBody>
                    <a:bodyPr/>
                    <a:lstStyle/>
                    <a:p>
                      <a:pPr algn="ctr"/>
                      <a:r>
                        <a:rPr lang="en-GB" sz="1800" b="1" dirty="0">
                          <a:latin typeface="Bell MT" panose="02020503060305020303" pitchFamily="18" charset="0"/>
                        </a:rPr>
                        <a:t>5.719</a:t>
                      </a:r>
                    </a:p>
                  </a:txBody>
                  <a:tcPr/>
                </a:tc>
                <a:extLst>
                  <a:ext uri="{0D108BD9-81ED-4DB2-BD59-A6C34878D82A}">
                    <a16:rowId xmlns:a16="http://schemas.microsoft.com/office/drawing/2014/main" val="1901810042"/>
                  </a:ext>
                </a:extLst>
              </a:tr>
              <a:tr h="370840">
                <a:tc>
                  <a:txBody>
                    <a:bodyPr/>
                    <a:lstStyle/>
                    <a:p>
                      <a:pPr algn="ctr"/>
                      <a:r>
                        <a:rPr lang="en-GB" sz="1800" b="1" dirty="0">
                          <a:latin typeface="Bell MT" panose="02020503060305020303" pitchFamily="18" charset="0"/>
                        </a:rPr>
                        <a:t>Holt Exp Smoo</a:t>
                      </a:r>
                    </a:p>
                  </a:txBody>
                  <a:tcPr/>
                </a:tc>
                <a:tc>
                  <a:txBody>
                    <a:bodyPr/>
                    <a:lstStyle/>
                    <a:p>
                      <a:pPr algn="ctr"/>
                      <a:r>
                        <a:rPr lang="en-GB" sz="1800" b="1" dirty="0">
                          <a:latin typeface="Bell MT" panose="02020503060305020303" pitchFamily="18" charset="0"/>
                        </a:rPr>
                        <a:t>9.861</a:t>
                      </a:r>
                    </a:p>
                  </a:txBody>
                  <a:tcPr/>
                </a:tc>
                <a:tc>
                  <a:txBody>
                    <a:bodyPr/>
                    <a:lstStyle/>
                    <a:p>
                      <a:pPr algn="ctr"/>
                      <a:r>
                        <a:rPr lang="en-GB" sz="1800" b="1" dirty="0">
                          <a:latin typeface="Bell MT" panose="02020503060305020303" pitchFamily="18" charset="0"/>
                        </a:rPr>
                        <a:t>11.537</a:t>
                      </a:r>
                    </a:p>
                  </a:txBody>
                  <a:tcPr/>
                </a:tc>
                <a:extLst>
                  <a:ext uri="{0D108BD9-81ED-4DB2-BD59-A6C34878D82A}">
                    <a16:rowId xmlns:a16="http://schemas.microsoft.com/office/drawing/2014/main" val="3177176224"/>
                  </a:ext>
                </a:extLst>
              </a:tr>
              <a:tr h="370840">
                <a:tc>
                  <a:txBody>
                    <a:bodyPr/>
                    <a:lstStyle/>
                    <a:p>
                      <a:pPr algn="ctr"/>
                      <a:r>
                        <a:rPr lang="en-GB" sz="1800" b="1" dirty="0">
                          <a:latin typeface="Bell MT" panose="02020503060305020303" pitchFamily="18" charset="0"/>
                        </a:rPr>
                        <a:t>ARIMA(1,1,1)</a:t>
                      </a:r>
                    </a:p>
                  </a:txBody>
                  <a:tcPr/>
                </a:tc>
                <a:tc>
                  <a:txBody>
                    <a:bodyPr/>
                    <a:lstStyle/>
                    <a:p>
                      <a:pPr algn="ctr"/>
                      <a:r>
                        <a:rPr lang="en-GB" sz="1800" b="1" dirty="0">
                          <a:latin typeface="Bell MT" panose="02020503060305020303" pitchFamily="18" charset="0"/>
                        </a:rPr>
                        <a:t>18.265</a:t>
                      </a:r>
                    </a:p>
                  </a:txBody>
                  <a:tcPr/>
                </a:tc>
                <a:tc>
                  <a:txBody>
                    <a:bodyPr/>
                    <a:lstStyle/>
                    <a:p>
                      <a:pPr algn="ctr"/>
                      <a:r>
                        <a:rPr lang="en-GB" sz="1800" b="1" dirty="0">
                          <a:latin typeface="Bell MT" panose="02020503060305020303" pitchFamily="18" charset="0"/>
                        </a:rPr>
                        <a:t>21.051</a:t>
                      </a:r>
                    </a:p>
                  </a:txBody>
                  <a:tcPr/>
                </a:tc>
                <a:extLst>
                  <a:ext uri="{0D108BD9-81ED-4DB2-BD59-A6C34878D82A}">
                    <a16:rowId xmlns:a16="http://schemas.microsoft.com/office/drawing/2014/main" val="1411156541"/>
                  </a:ext>
                </a:extLst>
              </a:tr>
              <a:tr h="370840">
                <a:tc>
                  <a:txBody>
                    <a:bodyPr/>
                    <a:lstStyle/>
                    <a:p>
                      <a:pPr algn="ctr"/>
                      <a:r>
                        <a:rPr lang="en-GB" sz="1800" b="1" dirty="0">
                          <a:latin typeface="Bell MT" panose="02020503060305020303" pitchFamily="18" charset="0"/>
                        </a:rPr>
                        <a:t>ARIMAX(1,1,1)</a:t>
                      </a:r>
                    </a:p>
                  </a:txBody>
                  <a:tcPr/>
                </a:tc>
                <a:tc>
                  <a:txBody>
                    <a:bodyPr/>
                    <a:lstStyle/>
                    <a:p>
                      <a:pPr algn="ctr"/>
                      <a:r>
                        <a:rPr lang="en-GB" sz="1800" b="1" dirty="0">
                          <a:latin typeface="Bell MT" panose="02020503060305020303" pitchFamily="18" charset="0"/>
                        </a:rPr>
                        <a:t>18.269</a:t>
                      </a:r>
                    </a:p>
                  </a:txBody>
                  <a:tcPr/>
                </a:tc>
                <a:tc>
                  <a:txBody>
                    <a:bodyPr/>
                    <a:lstStyle/>
                    <a:p>
                      <a:pPr algn="ctr"/>
                      <a:r>
                        <a:rPr lang="en-GB" sz="1800" b="1" dirty="0">
                          <a:latin typeface="Bell MT" panose="02020503060305020303" pitchFamily="18" charset="0"/>
                        </a:rPr>
                        <a:t>21.056</a:t>
                      </a:r>
                    </a:p>
                  </a:txBody>
                  <a:tcPr/>
                </a:tc>
                <a:extLst>
                  <a:ext uri="{0D108BD9-81ED-4DB2-BD59-A6C34878D82A}">
                    <a16:rowId xmlns:a16="http://schemas.microsoft.com/office/drawing/2014/main" val="2690008464"/>
                  </a:ext>
                </a:extLst>
              </a:tr>
            </a:tbl>
          </a:graphicData>
        </a:graphic>
      </p:graphicFrame>
      <p:sp>
        <p:nvSpPr>
          <p:cNvPr id="30" name="TextBox 29">
            <a:extLst>
              <a:ext uri="{FF2B5EF4-FFF2-40B4-BE49-F238E27FC236}">
                <a16:creationId xmlns:a16="http://schemas.microsoft.com/office/drawing/2014/main" id="{2A9D6A59-B5ED-707B-9714-0A40676DCE6D}"/>
              </a:ext>
            </a:extLst>
          </p:cNvPr>
          <p:cNvSpPr txBox="1"/>
          <p:nvPr/>
        </p:nvSpPr>
        <p:spPr>
          <a:xfrm>
            <a:off x="3514724" y="19135622"/>
            <a:ext cx="15725776" cy="2893100"/>
          </a:xfrm>
          <a:prstGeom prst="rect">
            <a:avLst/>
          </a:prstGeom>
          <a:noFill/>
        </p:spPr>
        <p:txBody>
          <a:bodyPr wrap="square" rtlCol="0">
            <a:spAutoFit/>
          </a:bodyPr>
          <a:lstStyle/>
          <a:p>
            <a:r>
              <a:rPr lang="en-US" sz="2400" b="1" dirty="0">
                <a:latin typeface="Bell MT" panose="02020503060305020303" pitchFamily="18" charset="0"/>
              </a:rPr>
              <a:t>Overall Comparison and Conclusion</a:t>
            </a:r>
          </a:p>
          <a:p>
            <a:endParaRPr lang="en-US" sz="2000" b="1" dirty="0">
              <a:latin typeface="Bell MT" panose="02020503060305020303" pitchFamily="18" charset="0"/>
            </a:endParaRPr>
          </a:p>
          <a:p>
            <a:r>
              <a:rPr lang="en-US" sz="2000" b="1" dirty="0">
                <a:latin typeface="Bell MT" panose="02020503060305020303" pitchFamily="18" charset="0"/>
              </a:rPr>
              <a:t>The results show that different methods worked better for different series. In the exponential smoothing part, the best model depended on whether the series mainly showed trend or seasonality. For GB7S, Holt’s method performed much better than ARIMA in the test period, because ARIMA forecasts stayed too flat and did not follow the continued rise in the actual series. The regression model gave the lowest forecast errors, but its diagnostic results were weaker because there was still autocorrelation and multicollinearity. The ARIMAX model was also tested, but it gave almost the same forecast errors as ARIMA, so it did not improve the results. Overall, Holt’s method was the most reliable forecasting choice for GB7S, while regression gave the best accuracy but needed more caution. </a:t>
            </a:r>
          </a:p>
          <a:p>
            <a:endParaRPr lang="en-GB" dirty="0"/>
          </a:p>
        </p:txBody>
      </p:sp>
      <p:graphicFrame>
        <p:nvGraphicFramePr>
          <p:cNvPr id="32" name="Table 31">
            <a:extLst>
              <a:ext uri="{FF2B5EF4-FFF2-40B4-BE49-F238E27FC236}">
                <a16:creationId xmlns:a16="http://schemas.microsoft.com/office/drawing/2014/main" id="{420731F9-0829-5C36-1C08-FDE3E15D5145}"/>
              </a:ext>
            </a:extLst>
          </p:cNvPr>
          <p:cNvGraphicFramePr>
            <a:graphicFrameLocks noGrp="1"/>
          </p:cNvGraphicFramePr>
          <p:nvPr>
            <p:extLst>
              <p:ext uri="{D42A27DB-BD31-4B8C-83A1-F6EECF244321}">
                <p14:modId xmlns:p14="http://schemas.microsoft.com/office/powerpoint/2010/main" val="1373204294"/>
              </p:ext>
            </p:extLst>
          </p:nvPr>
        </p:nvGraphicFramePr>
        <p:xfrm>
          <a:off x="19910711" y="19267714"/>
          <a:ext cx="6141120" cy="2271485"/>
        </p:xfrm>
        <a:graphic>
          <a:graphicData uri="http://schemas.openxmlformats.org/drawingml/2006/table">
            <a:tbl>
              <a:tblPr firstRow="1" bandRow="1">
                <a:tableStyleId>{5C22544A-7EE6-4342-B048-85BDC9FD1C3A}</a:tableStyleId>
              </a:tblPr>
              <a:tblGrid>
                <a:gridCol w="2047040">
                  <a:extLst>
                    <a:ext uri="{9D8B030D-6E8A-4147-A177-3AD203B41FA5}">
                      <a16:colId xmlns:a16="http://schemas.microsoft.com/office/drawing/2014/main" val="811601554"/>
                    </a:ext>
                  </a:extLst>
                </a:gridCol>
                <a:gridCol w="2047040">
                  <a:extLst>
                    <a:ext uri="{9D8B030D-6E8A-4147-A177-3AD203B41FA5}">
                      <a16:colId xmlns:a16="http://schemas.microsoft.com/office/drawing/2014/main" val="1905464506"/>
                    </a:ext>
                  </a:extLst>
                </a:gridCol>
                <a:gridCol w="2047040">
                  <a:extLst>
                    <a:ext uri="{9D8B030D-6E8A-4147-A177-3AD203B41FA5}">
                      <a16:colId xmlns:a16="http://schemas.microsoft.com/office/drawing/2014/main" val="1843172038"/>
                    </a:ext>
                  </a:extLst>
                </a:gridCol>
              </a:tblGrid>
              <a:tr h="454297">
                <a:tc>
                  <a:txBody>
                    <a:bodyPr/>
                    <a:lstStyle/>
                    <a:p>
                      <a:pPr algn="ctr"/>
                      <a:r>
                        <a:rPr lang="en-GB" sz="1800" b="1" dirty="0">
                          <a:latin typeface="Bell MT" panose="02020503060305020303" pitchFamily="18" charset="0"/>
                        </a:rPr>
                        <a:t>METHOD</a:t>
                      </a:r>
                    </a:p>
                  </a:txBody>
                  <a:tcPr/>
                </a:tc>
                <a:tc>
                  <a:txBody>
                    <a:bodyPr/>
                    <a:lstStyle/>
                    <a:p>
                      <a:pPr algn="ctr"/>
                      <a:r>
                        <a:rPr lang="en-GB" sz="1800" b="1" dirty="0">
                          <a:latin typeface="Bell MT" panose="02020503060305020303" pitchFamily="18" charset="0"/>
                        </a:rPr>
                        <a:t>MAE</a:t>
                      </a:r>
                    </a:p>
                  </a:txBody>
                  <a:tcPr/>
                </a:tc>
                <a:tc>
                  <a:txBody>
                    <a:bodyPr/>
                    <a:lstStyle/>
                    <a:p>
                      <a:pPr algn="ctr"/>
                      <a:r>
                        <a:rPr lang="en-GB" sz="1800" b="1" dirty="0">
                          <a:latin typeface="Bell MT" panose="02020503060305020303" pitchFamily="18" charset="0"/>
                        </a:rPr>
                        <a:t>RMSE</a:t>
                      </a:r>
                    </a:p>
                  </a:txBody>
                  <a:tcPr/>
                </a:tc>
                <a:extLst>
                  <a:ext uri="{0D108BD9-81ED-4DB2-BD59-A6C34878D82A}">
                    <a16:rowId xmlns:a16="http://schemas.microsoft.com/office/drawing/2014/main" val="3251316100"/>
                  </a:ext>
                </a:extLst>
              </a:tr>
              <a:tr h="454297">
                <a:tc>
                  <a:txBody>
                    <a:bodyPr/>
                    <a:lstStyle/>
                    <a:p>
                      <a:pPr algn="ctr"/>
                      <a:r>
                        <a:rPr lang="en-GB" sz="1800" b="1" dirty="0">
                          <a:latin typeface="Bell MT" panose="02020503060305020303" pitchFamily="18" charset="0"/>
                        </a:rPr>
                        <a:t>Regression</a:t>
                      </a:r>
                    </a:p>
                  </a:txBody>
                  <a:tcPr/>
                </a:tc>
                <a:tc>
                  <a:txBody>
                    <a:bodyPr/>
                    <a:lstStyle/>
                    <a:p>
                      <a:pPr algn="ctr"/>
                      <a:r>
                        <a:rPr lang="en-GB" sz="1800" b="1" dirty="0">
                          <a:latin typeface="Bell MT" panose="02020503060305020303" pitchFamily="18" charset="0"/>
                        </a:rPr>
                        <a:t>4.771</a:t>
                      </a:r>
                    </a:p>
                  </a:txBody>
                  <a:tcPr/>
                </a:tc>
                <a:tc>
                  <a:txBody>
                    <a:bodyPr/>
                    <a:lstStyle/>
                    <a:p>
                      <a:pPr algn="ctr"/>
                      <a:r>
                        <a:rPr lang="en-GB" sz="1800" b="1" dirty="0">
                          <a:latin typeface="Bell MT" panose="02020503060305020303" pitchFamily="18" charset="0"/>
                        </a:rPr>
                        <a:t>5.719</a:t>
                      </a:r>
                    </a:p>
                  </a:txBody>
                  <a:tcPr/>
                </a:tc>
                <a:extLst>
                  <a:ext uri="{0D108BD9-81ED-4DB2-BD59-A6C34878D82A}">
                    <a16:rowId xmlns:a16="http://schemas.microsoft.com/office/drawing/2014/main" val="277881301"/>
                  </a:ext>
                </a:extLst>
              </a:tr>
              <a:tr h="454297">
                <a:tc>
                  <a:txBody>
                    <a:bodyPr/>
                    <a:lstStyle/>
                    <a:p>
                      <a:pPr algn="ctr"/>
                      <a:r>
                        <a:rPr lang="en-GB" sz="1800" b="1" dirty="0">
                          <a:latin typeface="Bell MT" panose="02020503060305020303" pitchFamily="18" charset="0"/>
                        </a:rPr>
                        <a:t>Holt Exp Smoo</a:t>
                      </a:r>
                    </a:p>
                  </a:txBody>
                  <a:tcPr/>
                </a:tc>
                <a:tc>
                  <a:txBody>
                    <a:bodyPr/>
                    <a:lstStyle/>
                    <a:p>
                      <a:pPr algn="ctr"/>
                      <a:r>
                        <a:rPr lang="en-GB" sz="1800" b="1" dirty="0">
                          <a:latin typeface="Bell MT" panose="02020503060305020303" pitchFamily="18" charset="0"/>
                        </a:rPr>
                        <a:t>9.861</a:t>
                      </a:r>
                    </a:p>
                  </a:txBody>
                  <a:tcPr/>
                </a:tc>
                <a:tc>
                  <a:txBody>
                    <a:bodyPr/>
                    <a:lstStyle/>
                    <a:p>
                      <a:pPr algn="ctr"/>
                      <a:r>
                        <a:rPr lang="en-GB" sz="1800" b="1" dirty="0">
                          <a:latin typeface="Bell MT" panose="02020503060305020303" pitchFamily="18" charset="0"/>
                        </a:rPr>
                        <a:t>11.538</a:t>
                      </a:r>
                    </a:p>
                  </a:txBody>
                  <a:tcPr/>
                </a:tc>
                <a:extLst>
                  <a:ext uri="{0D108BD9-81ED-4DB2-BD59-A6C34878D82A}">
                    <a16:rowId xmlns:a16="http://schemas.microsoft.com/office/drawing/2014/main" val="4142962230"/>
                  </a:ext>
                </a:extLst>
              </a:tr>
              <a:tr h="454297">
                <a:tc>
                  <a:txBody>
                    <a:bodyPr/>
                    <a:lstStyle/>
                    <a:p>
                      <a:pPr algn="ctr"/>
                      <a:r>
                        <a:rPr lang="en-GB" sz="1800" b="1" dirty="0">
                          <a:latin typeface="Bell MT" panose="02020503060305020303" pitchFamily="18" charset="0"/>
                        </a:rPr>
                        <a:t>ARIMA(1,1,1)</a:t>
                      </a:r>
                    </a:p>
                  </a:txBody>
                  <a:tcPr/>
                </a:tc>
                <a:tc>
                  <a:txBody>
                    <a:bodyPr/>
                    <a:lstStyle/>
                    <a:p>
                      <a:pPr algn="ctr"/>
                      <a:r>
                        <a:rPr lang="en-GB" sz="1800" b="1" dirty="0">
                          <a:latin typeface="Bell MT" panose="02020503060305020303" pitchFamily="18" charset="0"/>
                        </a:rPr>
                        <a:t>18.269</a:t>
                      </a:r>
                    </a:p>
                  </a:txBody>
                  <a:tcPr/>
                </a:tc>
                <a:tc>
                  <a:txBody>
                    <a:bodyPr/>
                    <a:lstStyle/>
                    <a:p>
                      <a:pPr algn="ctr"/>
                      <a:r>
                        <a:rPr lang="en-GB" sz="1800" b="1" dirty="0">
                          <a:latin typeface="Bell MT" panose="02020503060305020303" pitchFamily="18" charset="0"/>
                        </a:rPr>
                        <a:t>21.055</a:t>
                      </a:r>
                    </a:p>
                  </a:txBody>
                  <a:tcPr/>
                </a:tc>
                <a:extLst>
                  <a:ext uri="{0D108BD9-81ED-4DB2-BD59-A6C34878D82A}">
                    <a16:rowId xmlns:a16="http://schemas.microsoft.com/office/drawing/2014/main" val="1421046804"/>
                  </a:ext>
                </a:extLst>
              </a:tr>
              <a:tr h="454297">
                <a:tc>
                  <a:txBody>
                    <a:bodyPr/>
                    <a:lstStyle/>
                    <a:p>
                      <a:pPr algn="ctr"/>
                      <a:r>
                        <a:rPr lang="en-GB" sz="1800" b="1" dirty="0">
                          <a:latin typeface="Bell MT" panose="02020503060305020303" pitchFamily="18" charset="0"/>
                        </a:rPr>
                        <a:t>ARIMAX(1,1,1)</a:t>
                      </a:r>
                    </a:p>
                  </a:txBody>
                  <a:tcPr/>
                </a:tc>
                <a:tc>
                  <a:txBody>
                    <a:bodyPr/>
                    <a:lstStyle/>
                    <a:p>
                      <a:pPr algn="ctr"/>
                      <a:r>
                        <a:rPr lang="en-GB" sz="1800" b="1" dirty="0">
                          <a:latin typeface="Bell MT" panose="02020503060305020303" pitchFamily="18" charset="0"/>
                        </a:rPr>
                        <a:t>18.269</a:t>
                      </a:r>
                    </a:p>
                  </a:txBody>
                  <a:tcPr/>
                </a:tc>
                <a:tc>
                  <a:txBody>
                    <a:bodyPr/>
                    <a:lstStyle/>
                    <a:p>
                      <a:pPr algn="ctr"/>
                      <a:r>
                        <a:rPr lang="en-GB" sz="1800" b="1">
                          <a:latin typeface="Bell MT" panose="02020503060305020303" pitchFamily="18" charset="0"/>
                        </a:rPr>
                        <a:t>21.056</a:t>
                      </a:r>
                      <a:endParaRPr lang="en-GB" sz="1800" b="1" dirty="0">
                        <a:latin typeface="Bell MT" panose="02020503060305020303" pitchFamily="18" charset="0"/>
                      </a:endParaRPr>
                    </a:p>
                  </a:txBody>
                  <a:tcPr/>
                </a:tc>
                <a:extLst>
                  <a:ext uri="{0D108BD9-81ED-4DB2-BD59-A6C34878D82A}">
                    <a16:rowId xmlns:a16="http://schemas.microsoft.com/office/drawing/2014/main" val="1527443741"/>
                  </a:ext>
                </a:extLst>
              </a:tr>
            </a:tbl>
          </a:graphicData>
        </a:graphic>
      </p:graphicFrame>
    </p:spTree>
    <p:extLst>
      <p:ext uri="{BB962C8B-B14F-4D97-AF65-F5344CB8AC3E}">
        <p14:creationId xmlns:p14="http://schemas.microsoft.com/office/powerpoint/2010/main" val="116127492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342</TotalTime>
  <Words>1171</Words>
  <Application>Microsoft Office PowerPoint</Application>
  <PresentationFormat>Custom</PresentationFormat>
  <Paragraphs>104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Bell MT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Athan Nunes</dc:creator>
  <cp:lastModifiedBy>Athan Nunes</cp:lastModifiedBy>
  <cp:revision>1</cp:revision>
  <dcterms:created xsi:type="dcterms:W3CDTF">2026-03-20T08:54:43Z</dcterms:created>
  <dcterms:modified xsi:type="dcterms:W3CDTF">2026-03-20T14:37:09Z</dcterms:modified>
</cp:coreProperties>
</file>